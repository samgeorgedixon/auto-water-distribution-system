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Lst>
  <p:sldSz cx="15119350" cy="10691813"/>
  <p:notesSz cx="10234613" cy="14663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226" userDrawn="1">
          <p15:clr>
            <a:srgbClr val="A4A3A4"/>
          </p15:clr>
        </p15:guide>
        <p15:guide id="3" orient="horz" pos="6497" userDrawn="1">
          <p15:clr>
            <a:srgbClr val="A4A3A4"/>
          </p15:clr>
        </p15:guide>
        <p15:guide id="4" pos="92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1D9"/>
    <a:srgbClr val="FFFF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varScale="1">
        <p:scale>
          <a:sx n="70" d="100"/>
          <a:sy n="70" d="100"/>
        </p:scale>
        <p:origin x="534" y="72"/>
      </p:cViewPr>
      <p:guideLst>
        <p:guide orient="horz" pos="238"/>
        <p:guide pos="226"/>
        <p:guide orient="horz" pos="6497"/>
        <p:guide pos="92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136601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97477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A1182-88C4-47C8-A7E1-E417A068045C}"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403068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EA1182-88C4-47C8-A7E1-E417A068045C}"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58714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EA1182-88C4-47C8-A7E1-E417A068045C}" type="datetimeFigureOut">
              <a:rPr lang="en-GB" smtClean="0"/>
              <a:t>03/01/2026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8520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EA1182-88C4-47C8-A7E1-E417A068045C}" type="datetimeFigureOut">
              <a:rPr lang="en-GB" smtClean="0"/>
              <a:t>03/01/2026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125035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A1182-88C4-47C8-A7E1-E417A068045C}" type="datetimeFigureOut">
              <a:rPr lang="en-GB" smtClean="0"/>
              <a:t>03/01/2026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02232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85111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12106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202632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76429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C9EA1182-88C4-47C8-A7E1-E417A068045C}" type="datetimeFigureOut">
              <a:rPr lang="en-GB" smtClean="0"/>
              <a:t>03/01/2026</a:t>
            </a:fld>
            <a:endParaRPr lang="en-GB"/>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F449A0BF-0FEA-4337-9540-FC47AE8EBF52}" type="slidenum">
              <a:rPr lang="en-GB" smtClean="0"/>
              <a:t>‹#›</a:t>
            </a:fld>
            <a:endParaRPr lang="en-GB"/>
          </a:p>
        </p:txBody>
      </p:sp>
    </p:spTree>
    <p:extLst>
      <p:ext uri="{BB962C8B-B14F-4D97-AF65-F5344CB8AC3E}">
        <p14:creationId xmlns:p14="http://schemas.microsoft.com/office/powerpoint/2010/main" val="4033149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4.png"/><Relationship Id="rId7" Type="http://schemas.microsoft.com/office/2007/relationships/hdphoto" Target="../media/hdphoto1.wdp"/><Relationship Id="rId12"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5.pn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5B9D-89B3-F78F-3831-FAB80DFBF9B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313BB78-97A4-5CE2-0D84-F7D23C52BA42}"/>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DBA1484-DB72-CA2F-970C-E9D354A606A4}"/>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9" name="TextBox 8">
            <a:extLst>
              <a:ext uri="{FF2B5EF4-FFF2-40B4-BE49-F238E27FC236}">
                <a16:creationId xmlns:a16="http://schemas.microsoft.com/office/drawing/2014/main" id="{5FDBCC69-A5BD-E018-7447-A709B5DF4180}"/>
              </a:ext>
            </a:extLst>
          </p:cNvPr>
          <p:cNvSpPr txBox="1"/>
          <p:nvPr/>
        </p:nvSpPr>
        <p:spPr>
          <a:xfrm>
            <a:off x="13647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What is it?</a:t>
            </a:r>
          </a:p>
        </p:txBody>
      </p:sp>
      <p:cxnSp>
        <p:nvCxnSpPr>
          <p:cNvPr id="14" name="Straight Connector 13">
            <a:extLst>
              <a:ext uri="{FF2B5EF4-FFF2-40B4-BE49-F238E27FC236}">
                <a16:creationId xmlns:a16="http://schemas.microsoft.com/office/drawing/2014/main" id="{8091B1E5-751E-1A98-2547-0C4546EA3780}"/>
              </a:ext>
            </a:extLst>
          </p:cNvPr>
          <p:cNvCxnSpPr>
            <a:cxnSpLocks/>
          </p:cNvCxnSpPr>
          <p:nvPr/>
        </p:nvCxnSpPr>
        <p:spPr>
          <a:xfrm>
            <a:off x="13647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E2E6D6D-B9AB-C1FB-A28C-D5CC28881ACF}"/>
              </a:ext>
            </a:extLst>
          </p:cNvPr>
          <p:cNvSpPr txBox="1"/>
          <p:nvPr/>
        </p:nvSpPr>
        <p:spPr>
          <a:xfrm>
            <a:off x="136479" y="1801514"/>
            <a:ext cx="4858602" cy="2462213"/>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is an irrigation system all about watering plants in any scenario possible like in a small greenhouse or industrial greenhouse due to giving you full control over its operation while being reliable, able to continue working across a whole year through all the seasons.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For instance, using the website interface on your phone you can set routines to water certain sets of plants at certain times for a duration based of the current temperature.</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allows all different types of plants to get the correct amount of water with no wasted.</a:t>
            </a:r>
          </a:p>
        </p:txBody>
      </p:sp>
      <p:sp>
        <p:nvSpPr>
          <p:cNvPr id="23" name="TextBox 22">
            <a:extLst>
              <a:ext uri="{FF2B5EF4-FFF2-40B4-BE49-F238E27FC236}">
                <a16:creationId xmlns:a16="http://schemas.microsoft.com/office/drawing/2014/main" id="{F769F25B-A236-C91D-AE3D-B8A1461BE826}"/>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pic>
        <p:nvPicPr>
          <p:cNvPr id="6" name="Picture 5">
            <a:extLst>
              <a:ext uri="{FF2B5EF4-FFF2-40B4-BE49-F238E27FC236}">
                <a16:creationId xmlns:a16="http://schemas.microsoft.com/office/drawing/2014/main" id="{936BB90F-2A27-2603-F8EF-AF7519185E2E}"/>
              </a:ext>
            </a:extLst>
          </p:cNvPr>
          <p:cNvPicPr>
            <a:picLocks noChangeAspect="1"/>
          </p:cNvPicPr>
          <p:nvPr/>
        </p:nvPicPr>
        <p:blipFill>
          <a:blip r:embed="rId2"/>
          <a:srcRect l="1137"/>
          <a:stretch>
            <a:fillRect/>
          </a:stretch>
        </p:blipFill>
        <p:spPr>
          <a:xfrm>
            <a:off x="5468571" y="4452638"/>
            <a:ext cx="9584353" cy="6239175"/>
          </a:xfrm>
          <a:prstGeom prst="rect">
            <a:avLst/>
          </a:prstGeom>
        </p:spPr>
      </p:pic>
      <p:sp>
        <p:nvSpPr>
          <p:cNvPr id="7" name="TextBox 6">
            <a:extLst>
              <a:ext uri="{FF2B5EF4-FFF2-40B4-BE49-F238E27FC236}">
                <a16:creationId xmlns:a16="http://schemas.microsoft.com/office/drawing/2014/main" id="{40C3DEE9-DF72-3DF3-81CE-37CA98F5C883}"/>
              </a:ext>
            </a:extLst>
          </p:cNvPr>
          <p:cNvSpPr txBox="1"/>
          <p:nvPr/>
        </p:nvSpPr>
        <p:spPr>
          <a:xfrm>
            <a:off x="136479" y="4452638"/>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Power</a:t>
            </a:r>
          </a:p>
        </p:txBody>
      </p:sp>
      <p:cxnSp>
        <p:nvCxnSpPr>
          <p:cNvPr id="8" name="Straight Connector 7">
            <a:extLst>
              <a:ext uri="{FF2B5EF4-FFF2-40B4-BE49-F238E27FC236}">
                <a16:creationId xmlns:a16="http://schemas.microsoft.com/office/drawing/2014/main" id="{69D64AB9-E8F2-F607-678C-B5DE16206C43}"/>
              </a:ext>
            </a:extLst>
          </p:cNvPr>
          <p:cNvCxnSpPr>
            <a:cxnSpLocks/>
          </p:cNvCxnSpPr>
          <p:nvPr/>
        </p:nvCxnSpPr>
        <p:spPr>
          <a:xfrm>
            <a:off x="136479" y="4914303"/>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6FB380-CC2B-75B0-F481-0BADB09BDD4E}"/>
              </a:ext>
            </a:extLst>
          </p:cNvPr>
          <p:cNvSpPr txBox="1"/>
          <p:nvPr/>
        </p:nvSpPr>
        <p:spPr>
          <a:xfrm>
            <a:off x="136479" y="5103215"/>
            <a:ext cx="4858602"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It all operates off 1 battery that is charged continuously with a solar panel to ensure it can run for years in remote locations like an allotment or field.</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You can choose to power the pumps and valves by another source like mains or an external battery pack if they require more power in industrial environments.</a:t>
            </a:r>
          </a:p>
        </p:txBody>
      </p:sp>
      <p:sp>
        <p:nvSpPr>
          <p:cNvPr id="16" name="TextBox 15">
            <a:extLst>
              <a:ext uri="{FF2B5EF4-FFF2-40B4-BE49-F238E27FC236}">
                <a16:creationId xmlns:a16="http://schemas.microsoft.com/office/drawing/2014/main" id="{6310AF30-A92C-C472-DFB3-A05C5E45FCD4}"/>
              </a:ext>
            </a:extLst>
          </p:cNvPr>
          <p:cNvSpPr txBox="1"/>
          <p:nvPr/>
        </p:nvSpPr>
        <p:spPr>
          <a:xfrm>
            <a:off x="136479" y="6674522"/>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Modules</a:t>
            </a:r>
          </a:p>
        </p:txBody>
      </p:sp>
      <p:cxnSp>
        <p:nvCxnSpPr>
          <p:cNvPr id="17" name="Straight Connector 16">
            <a:extLst>
              <a:ext uri="{FF2B5EF4-FFF2-40B4-BE49-F238E27FC236}">
                <a16:creationId xmlns:a16="http://schemas.microsoft.com/office/drawing/2014/main" id="{C25FDF13-0903-F1F5-11B8-868EDE2017AE}"/>
              </a:ext>
            </a:extLst>
          </p:cNvPr>
          <p:cNvCxnSpPr>
            <a:cxnSpLocks/>
          </p:cNvCxnSpPr>
          <p:nvPr/>
        </p:nvCxnSpPr>
        <p:spPr>
          <a:xfrm>
            <a:off x="136479" y="7136187"/>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4196AE0-A391-2659-5103-7945E19B4363}"/>
              </a:ext>
            </a:extLst>
          </p:cNvPr>
          <p:cNvSpPr txBox="1"/>
          <p:nvPr/>
        </p:nvSpPr>
        <p:spPr>
          <a:xfrm>
            <a:off x="136479" y="7325099"/>
            <a:ext cx="4858602" cy="2677656"/>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This design is made up of multiple modules which allow it to scale to any scenario with them able to sit flat on a table or be easily mounted onto a wall with keyholes.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The command module is central, controlling all other modules based on the routines you have set.</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Each valve is chained together on a module to allow water to be pumped to specific sets of plants for different durations giving you control.</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You can add as many switch modules as needed where they interface with command to turn on certain ones of its 6 ports to power the water pumps or valves when needed.</a:t>
            </a:r>
          </a:p>
        </p:txBody>
      </p:sp>
      <p:sp>
        <p:nvSpPr>
          <p:cNvPr id="38" name="TextBox 37">
            <a:extLst>
              <a:ext uri="{FF2B5EF4-FFF2-40B4-BE49-F238E27FC236}">
                <a16:creationId xmlns:a16="http://schemas.microsoft.com/office/drawing/2014/main" id="{F95C8D83-0983-86E7-C8B2-0D115100D4A4}"/>
              </a:ext>
            </a:extLst>
          </p:cNvPr>
          <p:cNvSpPr txBox="1"/>
          <p:nvPr/>
        </p:nvSpPr>
        <p:spPr>
          <a:xfrm>
            <a:off x="5332593"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Key Points</a:t>
            </a:r>
          </a:p>
        </p:txBody>
      </p:sp>
      <p:cxnSp>
        <p:nvCxnSpPr>
          <p:cNvPr id="39" name="Straight Connector 38">
            <a:extLst>
              <a:ext uri="{FF2B5EF4-FFF2-40B4-BE49-F238E27FC236}">
                <a16:creationId xmlns:a16="http://schemas.microsoft.com/office/drawing/2014/main" id="{30FFBE2C-1D9A-2DD3-0FFC-3B6C7B8B8466}"/>
              </a:ext>
            </a:extLst>
          </p:cNvPr>
          <p:cNvCxnSpPr>
            <a:cxnSpLocks/>
          </p:cNvCxnSpPr>
          <p:nvPr/>
        </p:nvCxnSpPr>
        <p:spPr>
          <a:xfrm>
            <a:off x="5332593"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9ECB164-F72F-9289-BF23-CAD18378B985}"/>
              </a:ext>
            </a:extLst>
          </p:cNvPr>
          <p:cNvSpPr txBox="1"/>
          <p:nvPr/>
        </p:nvSpPr>
        <p:spPr>
          <a:xfrm>
            <a:off x="5332593" y="1801514"/>
            <a:ext cx="4858602"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Water Plants (Water Conservation).</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Any Environment and Scale (Greenhouse / Farm).</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Reliable (Works for Months / Years).</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Sustainable (Self Sufficient: Solar / Rain).</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Relatively Affordable (&lt; ~£100).</a:t>
            </a:r>
          </a:p>
        </p:txBody>
      </p:sp>
      <p:pic>
        <p:nvPicPr>
          <p:cNvPr id="51" name="Picture 50">
            <a:extLst>
              <a:ext uri="{FF2B5EF4-FFF2-40B4-BE49-F238E27FC236}">
                <a16:creationId xmlns:a16="http://schemas.microsoft.com/office/drawing/2014/main" id="{8B8ABD9A-0F29-7393-4A44-D5958B74E8C3}"/>
              </a:ext>
            </a:extLst>
          </p:cNvPr>
          <p:cNvPicPr>
            <a:picLocks noChangeAspect="1"/>
          </p:cNvPicPr>
          <p:nvPr/>
        </p:nvPicPr>
        <p:blipFill>
          <a:blip r:embed="rId3"/>
          <a:srcRect l="1670" t="-10" r="9293" b="3129"/>
          <a:stretch>
            <a:fillRect/>
          </a:stretch>
        </p:blipFill>
        <p:spPr>
          <a:xfrm>
            <a:off x="11930195" y="1150937"/>
            <a:ext cx="3052676" cy="4557211"/>
          </a:xfrm>
          <a:prstGeom prst="rect">
            <a:avLst/>
          </a:prstGeom>
        </p:spPr>
      </p:pic>
      <p:cxnSp>
        <p:nvCxnSpPr>
          <p:cNvPr id="54" name="Straight Arrow Connector 53">
            <a:extLst>
              <a:ext uri="{FF2B5EF4-FFF2-40B4-BE49-F238E27FC236}">
                <a16:creationId xmlns:a16="http://schemas.microsoft.com/office/drawing/2014/main" id="{3B0F879C-AF67-4830-AB07-A637217CE0CD}"/>
              </a:ext>
            </a:extLst>
          </p:cNvPr>
          <p:cNvCxnSpPr>
            <a:cxnSpLocks/>
          </p:cNvCxnSpPr>
          <p:nvPr/>
        </p:nvCxnSpPr>
        <p:spPr>
          <a:xfrm flipV="1">
            <a:off x="11930195" y="2186919"/>
            <a:ext cx="680905" cy="398739"/>
          </a:xfrm>
          <a:prstGeom prst="straightConnector1">
            <a:avLst/>
          </a:prstGeom>
          <a:ln w="38100">
            <a:solidFill>
              <a:schemeClr val="bg2">
                <a:lumMod val="10000"/>
              </a:schemeClr>
            </a:solidFill>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57" name="TextBox 56">
            <a:extLst>
              <a:ext uri="{FF2B5EF4-FFF2-40B4-BE49-F238E27FC236}">
                <a16:creationId xmlns:a16="http://schemas.microsoft.com/office/drawing/2014/main" id="{B4945319-6BE1-21BB-0DAA-83EB3C95E51C}"/>
              </a:ext>
            </a:extLst>
          </p:cNvPr>
          <p:cNvSpPr txBox="1"/>
          <p:nvPr/>
        </p:nvSpPr>
        <p:spPr>
          <a:xfrm>
            <a:off x="11555327" y="1150937"/>
            <a:ext cx="1751239"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Wall Mount</a:t>
            </a:r>
          </a:p>
        </p:txBody>
      </p:sp>
      <p:cxnSp>
        <p:nvCxnSpPr>
          <p:cNvPr id="58" name="Straight Connector 57">
            <a:extLst>
              <a:ext uri="{FF2B5EF4-FFF2-40B4-BE49-F238E27FC236}">
                <a16:creationId xmlns:a16="http://schemas.microsoft.com/office/drawing/2014/main" id="{77C0A031-0CB9-4ECF-D2A2-123C39549318}"/>
              </a:ext>
            </a:extLst>
          </p:cNvPr>
          <p:cNvCxnSpPr>
            <a:cxnSpLocks/>
          </p:cNvCxnSpPr>
          <p:nvPr/>
        </p:nvCxnSpPr>
        <p:spPr>
          <a:xfrm>
            <a:off x="11623400" y="1612602"/>
            <a:ext cx="1615095"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868A844-85CF-50C8-54A9-97ECBAE70DD0}"/>
              </a:ext>
            </a:extLst>
          </p:cNvPr>
          <p:cNvSpPr txBox="1"/>
          <p:nvPr/>
        </p:nvSpPr>
        <p:spPr>
          <a:xfrm rot="19814844">
            <a:off x="6672734" y="5270203"/>
            <a:ext cx="1125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1</a:t>
            </a:r>
          </a:p>
        </p:txBody>
      </p:sp>
      <p:sp>
        <p:nvSpPr>
          <p:cNvPr id="63" name="TextBox 62">
            <a:extLst>
              <a:ext uri="{FF2B5EF4-FFF2-40B4-BE49-F238E27FC236}">
                <a16:creationId xmlns:a16="http://schemas.microsoft.com/office/drawing/2014/main" id="{89718ABF-AD74-82B0-7E94-EB13A2FA8AA9}"/>
              </a:ext>
            </a:extLst>
          </p:cNvPr>
          <p:cNvSpPr txBox="1"/>
          <p:nvPr/>
        </p:nvSpPr>
        <p:spPr>
          <a:xfrm>
            <a:off x="11766572" y="7189721"/>
            <a:ext cx="1751239"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Command</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64" name="TextBox 63">
            <a:extLst>
              <a:ext uri="{FF2B5EF4-FFF2-40B4-BE49-F238E27FC236}">
                <a16:creationId xmlns:a16="http://schemas.microsoft.com/office/drawing/2014/main" id="{E9EE4BF1-F460-BDFB-6359-2C73A86B439A}"/>
              </a:ext>
            </a:extLst>
          </p:cNvPr>
          <p:cNvSpPr txBox="1"/>
          <p:nvPr/>
        </p:nvSpPr>
        <p:spPr>
          <a:xfrm>
            <a:off x="12874315" y="7790539"/>
            <a:ext cx="1751239"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65" name="TextBox 64">
            <a:extLst>
              <a:ext uri="{FF2B5EF4-FFF2-40B4-BE49-F238E27FC236}">
                <a16:creationId xmlns:a16="http://schemas.microsoft.com/office/drawing/2014/main" id="{E335D26E-D06A-1007-B12A-0DA7D8DE1D54}"/>
              </a:ext>
            </a:extLst>
          </p:cNvPr>
          <p:cNvSpPr txBox="1"/>
          <p:nvPr/>
        </p:nvSpPr>
        <p:spPr>
          <a:xfrm rot="19814844">
            <a:off x="8199066" y="6125547"/>
            <a:ext cx="1125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2</a:t>
            </a:r>
          </a:p>
        </p:txBody>
      </p:sp>
      <p:sp>
        <p:nvSpPr>
          <p:cNvPr id="67" name="TextBox 66">
            <a:extLst>
              <a:ext uri="{FF2B5EF4-FFF2-40B4-BE49-F238E27FC236}">
                <a16:creationId xmlns:a16="http://schemas.microsoft.com/office/drawing/2014/main" id="{5555708B-DF4E-06A9-B158-DAA9760FC8A5}"/>
              </a:ext>
            </a:extLst>
          </p:cNvPr>
          <p:cNvSpPr txBox="1"/>
          <p:nvPr/>
        </p:nvSpPr>
        <p:spPr>
          <a:xfrm rot="19814844">
            <a:off x="7985653" y="7944427"/>
            <a:ext cx="2254886"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Module</a:t>
            </a:r>
          </a:p>
        </p:txBody>
      </p:sp>
      <p:sp>
        <p:nvSpPr>
          <p:cNvPr id="69" name="TextBox 68">
            <a:extLst>
              <a:ext uri="{FF2B5EF4-FFF2-40B4-BE49-F238E27FC236}">
                <a16:creationId xmlns:a16="http://schemas.microsoft.com/office/drawing/2014/main" id="{DEE884B4-4AE8-3E9D-9C46-DE7FD92152BB}"/>
              </a:ext>
            </a:extLst>
          </p:cNvPr>
          <p:cNvSpPr txBox="1"/>
          <p:nvPr/>
        </p:nvSpPr>
        <p:spPr>
          <a:xfrm rot="19814844">
            <a:off x="6450541" y="7089082"/>
            <a:ext cx="2254886"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 Module</a:t>
            </a:r>
          </a:p>
        </p:txBody>
      </p:sp>
      <p:sp>
        <p:nvSpPr>
          <p:cNvPr id="70" name="TextBox 69">
            <a:extLst>
              <a:ext uri="{FF2B5EF4-FFF2-40B4-BE49-F238E27FC236}">
                <a16:creationId xmlns:a16="http://schemas.microsoft.com/office/drawing/2014/main" id="{189B2944-4065-46E7-45C2-2F2B054A1734}"/>
              </a:ext>
            </a:extLst>
          </p:cNvPr>
          <p:cNvSpPr txBox="1"/>
          <p:nvPr/>
        </p:nvSpPr>
        <p:spPr>
          <a:xfrm>
            <a:off x="13756740" y="9602645"/>
            <a:ext cx="764478"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Ports</a:t>
            </a:r>
          </a:p>
        </p:txBody>
      </p:sp>
      <p:cxnSp>
        <p:nvCxnSpPr>
          <p:cNvPr id="73" name="Connector: Curved 72">
            <a:extLst>
              <a:ext uri="{FF2B5EF4-FFF2-40B4-BE49-F238E27FC236}">
                <a16:creationId xmlns:a16="http://schemas.microsoft.com/office/drawing/2014/main" id="{3F57262C-2613-00A8-B8DA-D7C607747EA4}"/>
              </a:ext>
            </a:extLst>
          </p:cNvPr>
          <p:cNvCxnSpPr>
            <a:cxnSpLocks/>
          </p:cNvCxnSpPr>
          <p:nvPr/>
        </p:nvCxnSpPr>
        <p:spPr>
          <a:xfrm rot="10800000">
            <a:off x="12757621" y="9024939"/>
            <a:ext cx="992318" cy="777763"/>
          </a:xfrm>
          <a:prstGeom prst="curvedConnector3">
            <a:avLst/>
          </a:prstGeom>
          <a:ln w="38100">
            <a:solidFill>
              <a:schemeClr val="bg2">
                <a:lumMod val="1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634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FA6B-834D-D0E8-1FE7-F3E045A7A9F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57F4648-F2E0-863C-8C21-6594A188BA4D}"/>
              </a:ext>
            </a:extLst>
          </p:cNvPr>
          <p:cNvPicPr>
            <a:picLocks noChangeAspect="1"/>
          </p:cNvPicPr>
          <p:nvPr/>
        </p:nvPicPr>
        <p:blipFill>
          <a:blip r:embed="rId2"/>
          <a:stretch>
            <a:fillRect/>
          </a:stretch>
        </p:blipFill>
        <p:spPr>
          <a:xfrm>
            <a:off x="11056700" y="3978809"/>
            <a:ext cx="1594793" cy="3630383"/>
          </a:xfrm>
          <a:prstGeom prst="rect">
            <a:avLst/>
          </a:prstGeom>
        </p:spPr>
      </p:pic>
      <p:cxnSp>
        <p:nvCxnSpPr>
          <p:cNvPr id="1039" name="Straight Arrow Connector 1038">
            <a:extLst>
              <a:ext uri="{FF2B5EF4-FFF2-40B4-BE49-F238E27FC236}">
                <a16:creationId xmlns:a16="http://schemas.microsoft.com/office/drawing/2014/main" id="{46C1192D-1566-6886-E2F2-D4EE332CE644}"/>
              </a:ext>
            </a:extLst>
          </p:cNvPr>
          <p:cNvCxnSpPr>
            <a:cxnSpLocks/>
          </p:cNvCxnSpPr>
          <p:nvPr/>
        </p:nvCxnSpPr>
        <p:spPr>
          <a:xfrm>
            <a:off x="1885005" y="5887463"/>
            <a:ext cx="9625483" cy="0"/>
          </a:xfrm>
          <a:prstGeom prst="straightConnector1">
            <a:avLst/>
          </a:prstGeom>
          <a:ln w="57150" cap="rnd">
            <a:solidFill>
              <a:schemeClr val="accent2">
                <a:lumMod val="7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1040">
            <a:extLst>
              <a:ext uri="{FF2B5EF4-FFF2-40B4-BE49-F238E27FC236}">
                <a16:creationId xmlns:a16="http://schemas.microsoft.com/office/drawing/2014/main" id="{C8F1F25F-735F-A642-FF1A-1A1BF9B073CD}"/>
              </a:ext>
            </a:extLst>
          </p:cNvPr>
          <p:cNvCxnSpPr>
            <a:cxnSpLocks/>
          </p:cNvCxnSpPr>
          <p:nvPr/>
        </p:nvCxnSpPr>
        <p:spPr>
          <a:xfrm flipV="1">
            <a:off x="4586288" y="5454429"/>
            <a:ext cx="6924200" cy="6599"/>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C8B5AA41-F379-849B-1127-3427D06A9BD2}"/>
              </a:ext>
            </a:extLst>
          </p:cNvPr>
          <p:cNvPicPr>
            <a:picLocks noChangeAspect="1"/>
          </p:cNvPicPr>
          <p:nvPr/>
        </p:nvPicPr>
        <p:blipFill>
          <a:blip r:embed="rId3"/>
          <a:stretch>
            <a:fillRect/>
          </a:stretch>
        </p:blipFill>
        <p:spPr>
          <a:xfrm>
            <a:off x="7070727" y="1150937"/>
            <a:ext cx="2327055" cy="3746875"/>
          </a:xfrm>
          <a:prstGeom prst="rect">
            <a:avLst/>
          </a:prstGeom>
        </p:spPr>
      </p:pic>
      <p:pic>
        <p:nvPicPr>
          <p:cNvPr id="45" name="Picture 44">
            <a:extLst>
              <a:ext uri="{FF2B5EF4-FFF2-40B4-BE49-F238E27FC236}">
                <a16:creationId xmlns:a16="http://schemas.microsoft.com/office/drawing/2014/main" id="{1161BF3A-07FD-F516-D4EA-DE821943A5AB}"/>
              </a:ext>
            </a:extLst>
          </p:cNvPr>
          <p:cNvPicPr>
            <a:picLocks noChangeAspect="1"/>
          </p:cNvPicPr>
          <p:nvPr/>
        </p:nvPicPr>
        <p:blipFill>
          <a:blip r:embed="rId4"/>
          <a:stretch>
            <a:fillRect/>
          </a:stretch>
        </p:blipFill>
        <p:spPr>
          <a:xfrm flipH="1">
            <a:off x="2161582" y="272807"/>
            <a:ext cx="1656563" cy="2055047"/>
          </a:xfrm>
          <a:prstGeom prst="rect">
            <a:avLst/>
          </a:prstGeom>
        </p:spPr>
      </p:pic>
      <p:sp>
        <p:nvSpPr>
          <p:cNvPr id="5" name="Rectangle 4">
            <a:extLst>
              <a:ext uri="{FF2B5EF4-FFF2-40B4-BE49-F238E27FC236}">
                <a16:creationId xmlns:a16="http://schemas.microsoft.com/office/drawing/2014/main" id="{0470BEF4-9069-01CB-DC8E-697ADD7FF9BD}"/>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B3D0F32-98B2-FA3D-C245-3DEF15AFDC74}"/>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23" name="TextBox 22">
            <a:extLst>
              <a:ext uri="{FF2B5EF4-FFF2-40B4-BE49-F238E27FC236}">
                <a16:creationId xmlns:a16="http://schemas.microsoft.com/office/drawing/2014/main" id="{50EAD443-E951-22F2-22AD-25869C529DC7}"/>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pic>
        <p:nvPicPr>
          <p:cNvPr id="13" name="Picture 12">
            <a:extLst>
              <a:ext uri="{FF2B5EF4-FFF2-40B4-BE49-F238E27FC236}">
                <a16:creationId xmlns:a16="http://schemas.microsoft.com/office/drawing/2014/main" id="{DD2B23D3-9F1B-A13D-EC0E-6271DFEEA8B3}"/>
              </a:ext>
            </a:extLst>
          </p:cNvPr>
          <p:cNvPicPr>
            <a:picLocks noChangeAspect="1"/>
          </p:cNvPicPr>
          <p:nvPr/>
        </p:nvPicPr>
        <p:blipFill>
          <a:blip r:embed="rId5"/>
          <a:srcRect l="486" r="1262"/>
          <a:stretch>
            <a:fillRect/>
          </a:stretch>
        </p:blipFill>
        <p:spPr>
          <a:xfrm>
            <a:off x="9259428" y="4006152"/>
            <a:ext cx="1551373" cy="3603040"/>
          </a:xfrm>
          <a:prstGeom prst="rect">
            <a:avLst/>
          </a:prstGeom>
        </p:spPr>
      </p:pic>
      <p:pic>
        <p:nvPicPr>
          <p:cNvPr id="16" name="Picture 15">
            <a:extLst>
              <a:ext uri="{FF2B5EF4-FFF2-40B4-BE49-F238E27FC236}">
                <a16:creationId xmlns:a16="http://schemas.microsoft.com/office/drawing/2014/main" id="{0895D2AD-EEC2-CFAF-6425-6A5C865E7BCC}"/>
              </a:ext>
            </a:extLst>
          </p:cNvPr>
          <p:cNvPicPr>
            <a:picLocks noChangeAspect="1"/>
          </p:cNvPicPr>
          <p:nvPr/>
        </p:nvPicPr>
        <p:blipFill>
          <a:blip r:embed="rId3"/>
          <a:stretch>
            <a:fillRect/>
          </a:stretch>
        </p:blipFill>
        <p:spPr>
          <a:xfrm>
            <a:off x="4517694" y="1150937"/>
            <a:ext cx="2327055" cy="3746875"/>
          </a:xfrm>
          <a:prstGeom prst="rect">
            <a:avLst/>
          </a:prstGeom>
        </p:spPr>
      </p:pic>
      <p:pic>
        <p:nvPicPr>
          <p:cNvPr id="17" name="Picture 16">
            <a:extLst>
              <a:ext uri="{FF2B5EF4-FFF2-40B4-BE49-F238E27FC236}">
                <a16:creationId xmlns:a16="http://schemas.microsoft.com/office/drawing/2014/main" id="{5135A312-EF6F-2548-93B7-E29C83258F12}"/>
              </a:ext>
            </a:extLst>
          </p:cNvPr>
          <p:cNvPicPr>
            <a:picLocks noChangeAspect="1"/>
          </p:cNvPicPr>
          <p:nvPr/>
        </p:nvPicPr>
        <p:blipFill>
          <a:blip r:embed="rId2"/>
          <a:stretch>
            <a:fillRect/>
          </a:stretch>
        </p:blipFill>
        <p:spPr>
          <a:xfrm>
            <a:off x="12877471" y="3978808"/>
            <a:ext cx="1594793" cy="3630383"/>
          </a:xfrm>
          <a:prstGeom prst="rect">
            <a:avLst/>
          </a:prstGeom>
        </p:spPr>
      </p:pic>
      <p:sp>
        <p:nvSpPr>
          <p:cNvPr id="27" name="TextBox 26">
            <a:extLst>
              <a:ext uri="{FF2B5EF4-FFF2-40B4-BE49-F238E27FC236}">
                <a16:creationId xmlns:a16="http://schemas.microsoft.com/office/drawing/2014/main" id="{2EAE2AEB-F84E-017E-B084-3D1D93729BA6}"/>
              </a:ext>
            </a:extLst>
          </p:cNvPr>
          <p:cNvSpPr txBox="1"/>
          <p:nvPr/>
        </p:nvSpPr>
        <p:spPr>
          <a:xfrm>
            <a:off x="159448" y="3451507"/>
            <a:ext cx="1656563"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Pump 2</a:t>
            </a:r>
          </a:p>
        </p:txBody>
      </p:sp>
      <p:sp>
        <p:nvSpPr>
          <p:cNvPr id="28" name="TextBox 27">
            <a:extLst>
              <a:ext uri="{FF2B5EF4-FFF2-40B4-BE49-F238E27FC236}">
                <a16:creationId xmlns:a16="http://schemas.microsoft.com/office/drawing/2014/main" id="{882E86AB-D778-3644-E629-82C67AD87337}"/>
              </a:ext>
            </a:extLst>
          </p:cNvPr>
          <p:cNvSpPr txBox="1"/>
          <p:nvPr/>
        </p:nvSpPr>
        <p:spPr>
          <a:xfrm>
            <a:off x="136479" y="613230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Small Greenhouse Scenario</a:t>
            </a:r>
          </a:p>
        </p:txBody>
      </p:sp>
      <p:cxnSp>
        <p:nvCxnSpPr>
          <p:cNvPr id="29" name="Straight Connector 28">
            <a:extLst>
              <a:ext uri="{FF2B5EF4-FFF2-40B4-BE49-F238E27FC236}">
                <a16:creationId xmlns:a16="http://schemas.microsoft.com/office/drawing/2014/main" id="{01E3964C-464B-5D81-0C70-9F9AD87D33E8}"/>
              </a:ext>
            </a:extLst>
          </p:cNvPr>
          <p:cNvCxnSpPr>
            <a:cxnSpLocks/>
          </p:cNvCxnSpPr>
          <p:nvPr/>
        </p:nvCxnSpPr>
        <p:spPr>
          <a:xfrm>
            <a:off x="136479" y="659397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8D2475A-4D19-AE12-3EF1-F6A8ACA84C5B}"/>
              </a:ext>
            </a:extLst>
          </p:cNvPr>
          <p:cNvSpPr txBox="1"/>
          <p:nvPr/>
        </p:nvSpPr>
        <p:spPr>
          <a:xfrm>
            <a:off x="136479" y="6782884"/>
            <a:ext cx="4858602" cy="3754874"/>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To take advantage of it in this scenario you can have both sides of the greenhouse on different valves because they may get a different amount of sunlight or have different varieties of plant so one side needs more water than the other.</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Then you can have a pump that is operated with each valve at a time taking water out of a water tank and distributing it but also have another that fills the tank every couple weeks with more water from a water butt.</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Due to only giving the plants the water they need they will have increased yields, and it will conserve water which is important when using a water butt as when there is little rainfall it will still have leftover water.</a:t>
            </a:r>
          </a:p>
          <a:p>
            <a:pPr marL="285750" indent="-285750">
              <a:buFont typeface="Arial" panose="020B0604020202020204" pitchFamily="34" charset="0"/>
              <a:buChar char="•"/>
            </a:pPr>
            <a:r>
              <a:rPr lang="en-GB" sz="1400" dirty="0">
                <a:latin typeface="Segoe UI" panose="020B0502040204020203" pitchFamily="34" charset="0"/>
                <a:cs typeface="Segoe UI" panose="020B0502040204020203" pitchFamily="34" charset="0"/>
              </a:rPr>
              <a:t>As well as this due to water duration being done based of temperature, across the year plants will get more water in the summer when they need it more and little to none in the winter when they don’t need it.</a:t>
            </a:r>
          </a:p>
        </p:txBody>
      </p:sp>
      <p:pic>
        <p:nvPicPr>
          <p:cNvPr id="48" name="Picture 47">
            <a:extLst>
              <a:ext uri="{FF2B5EF4-FFF2-40B4-BE49-F238E27FC236}">
                <a16:creationId xmlns:a16="http://schemas.microsoft.com/office/drawing/2014/main" id="{F8CB1E56-8B1E-8C91-3610-A34567952A6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123" b="96639" l="2924" r="95322">
                        <a14:foregroundMark x1="67544" y1="17367" x2="67544" y2="17367"/>
                        <a14:foregroundMark x1="95614" y1="22129" x2="95614" y2="22129"/>
                        <a14:foregroundMark x1="6140" y1="68908" x2="6140" y2="68908"/>
                        <a14:foregroundMark x1="3216" y1="81232" x2="3216" y2="81232"/>
                        <a14:foregroundMark x1="60819" y1="87675" x2="60819" y2="87675"/>
                        <a14:foregroundMark x1="78070" y1="91877" x2="78070" y2="91877"/>
                        <a14:foregroundMark x1="84211" y1="96639" x2="84211" y2="96639"/>
                        <a14:foregroundMark x1="20760" y1="8123" x2="20760" y2="8123"/>
                      </a14:backgroundRemoval>
                    </a14:imgEffect>
                  </a14:imgLayer>
                </a14:imgProps>
              </a:ext>
            </a:extLst>
          </a:blip>
          <a:stretch>
            <a:fillRect/>
          </a:stretch>
        </p:blipFill>
        <p:spPr>
          <a:xfrm>
            <a:off x="7489387" y="8305373"/>
            <a:ext cx="1378423" cy="1438880"/>
          </a:xfrm>
          <a:prstGeom prst="rect">
            <a:avLst/>
          </a:prstGeom>
        </p:spPr>
      </p:pic>
      <p:cxnSp>
        <p:nvCxnSpPr>
          <p:cNvPr id="40" name="Straight Arrow Connector 39">
            <a:extLst>
              <a:ext uri="{FF2B5EF4-FFF2-40B4-BE49-F238E27FC236}">
                <a16:creationId xmlns:a16="http://schemas.microsoft.com/office/drawing/2014/main" id="{AFCBA258-82BB-60D3-C89E-AF6BE5D51049}"/>
              </a:ext>
            </a:extLst>
          </p:cNvPr>
          <p:cNvCxnSpPr>
            <a:cxnSpLocks/>
          </p:cNvCxnSpPr>
          <p:nvPr/>
        </p:nvCxnSpPr>
        <p:spPr>
          <a:xfrm flipV="1">
            <a:off x="10404509" y="7367232"/>
            <a:ext cx="0" cy="7290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20A2D32F-0FD3-7F6F-979D-B4DB359393B5}"/>
              </a:ext>
            </a:extLst>
          </p:cNvPr>
          <p:cNvCxnSpPr>
            <a:cxnSpLocks/>
          </p:cNvCxnSpPr>
          <p:nvPr/>
        </p:nvCxnSpPr>
        <p:spPr>
          <a:xfrm flipH="1">
            <a:off x="10422731" y="8065116"/>
            <a:ext cx="1296194"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0F5BFFA8-3156-C43F-2235-99AF61D0F30E}"/>
              </a:ext>
            </a:extLst>
          </p:cNvPr>
          <p:cNvCxnSpPr>
            <a:cxnSpLocks/>
          </p:cNvCxnSpPr>
          <p:nvPr/>
        </p:nvCxnSpPr>
        <p:spPr>
          <a:xfrm>
            <a:off x="11718925" y="7367232"/>
            <a:ext cx="0" cy="697884"/>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617CECB-983C-0ED8-6440-10B71A34A3E3}"/>
              </a:ext>
            </a:extLst>
          </p:cNvPr>
          <p:cNvCxnSpPr>
            <a:cxnSpLocks/>
          </p:cNvCxnSpPr>
          <p:nvPr/>
        </p:nvCxnSpPr>
        <p:spPr>
          <a:xfrm flipV="1">
            <a:off x="12024447" y="7367232"/>
            <a:ext cx="0" cy="7290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40EF863-4D83-B646-00A5-8EAC59411544}"/>
              </a:ext>
            </a:extLst>
          </p:cNvPr>
          <p:cNvCxnSpPr>
            <a:cxnSpLocks/>
          </p:cNvCxnSpPr>
          <p:nvPr/>
        </p:nvCxnSpPr>
        <p:spPr>
          <a:xfrm flipH="1">
            <a:off x="12049125" y="8070850"/>
            <a:ext cx="1478859"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7DF9757-0F5E-F020-9DBB-DDC55F4BAD4B}"/>
              </a:ext>
            </a:extLst>
          </p:cNvPr>
          <p:cNvCxnSpPr>
            <a:cxnSpLocks/>
          </p:cNvCxnSpPr>
          <p:nvPr/>
        </p:nvCxnSpPr>
        <p:spPr>
          <a:xfrm flipH="1">
            <a:off x="13533436" y="7361498"/>
            <a:ext cx="5452"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92D2E93D-8209-694D-BFCB-C4CE1FACC214}"/>
              </a:ext>
            </a:extLst>
          </p:cNvPr>
          <p:cNvCxnSpPr>
            <a:cxnSpLocks/>
          </p:cNvCxnSpPr>
          <p:nvPr/>
        </p:nvCxnSpPr>
        <p:spPr>
          <a:xfrm flipV="1">
            <a:off x="13838959" y="7392632"/>
            <a:ext cx="0"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D48C6B4A-EB88-79F4-83B5-02A3F0229532}"/>
              </a:ext>
            </a:extLst>
          </p:cNvPr>
          <p:cNvCxnSpPr>
            <a:cxnSpLocks/>
          </p:cNvCxnSpPr>
          <p:nvPr/>
        </p:nvCxnSpPr>
        <p:spPr>
          <a:xfrm flipH="1">
            <a:off x="13868401" y="8068907"/>
            <a:ext cx="818887" cy="0"/>
          </a:xfrm>
          <a:prstGeom prst="straightConnector1">
            <a:avLst/>
          </a:prstGeom>
          <a:ln w="57150" cap="rnd" cmpd="sng" algn="ctr">
            <a:solidFill>
              <a:schemeClr val="bg2">
                <a:lumMod val="25000"/>
              </a:schemeClr>
            </a:solidFill>
            <a:prstDash val="sysDash"/>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9" name="Straight Arrow Connector 68">
            <a:extLst>
              <a:ext uri="{FF2B5EF4-FFF2-40B4-BE49-F238E27FC236}">
                <a16:creationId xmlns:a16="http://schemas.microsoft.com/office/drawing/2014/main" id="{5FFA84C0-D8BD-9463-8880-F77E2E957619}"/>
              </a:ext>
            </a:extLst>
          </p:cNvPr>
          <p:cNvCxnSpPr>
            <a:cxnSpLocks/>
            <a:endCxn id="48" idx="0"/>
          </p:cNvCxnSpPr>
          <p:nvPr/>
        </p:nvCxnSpPr>
        <p:spPr>
          <a:xfrm flipH="1">
            <a:off x="8178599" y="8029575"/>
            <a:ext cx="707432" cy="27579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D78D30C8-B6E9-A3DD-7E4E-D6026BE3E411}"/>
              </a:ext>
            </a:extLst>
          </p:cNvPr>
          <p:cNvCxnSpPr>
            <a:cxnSpLocks/>
          </p:cNvCxnSpPr>
          <p:nvPr/>
        </p:nvCxnSpPr>
        <p:spPr>
          <a:xfrm flipH="1">
            <a:off x="8843996" y="8065116"/>
            <a:ext cx="1338229" cy="0"/>
          </a:xfrm>
          <a:prstGeom prst="straightConnector1">
            <a:avLst/>
          </a:prstGeom>
          <a:ln w="57150" cap="rnd">
            <a:solidFill>
              <a:schemeClr val="bg2">
                <a:lumMod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2DFB3B68-8FCB-B4FC-1BE5-394AB26C1DB7}"/>
              </a:ext>
            </a:extLst>
          </p:cNvPr>
          <p:cNvCxnSpPr>
            <a:cxnSpLocks/>
          </p:cNvCxnSpPr>
          <p:nvPr/>
        </p:nvCxnSpPr>
        <p:spPr>
          <a:xfrm>
            <a:off x="10182225" y="7361498"/>
            <a:ext cx="0" cy="703618"/>
          </a:xfrm>
          <a:prstGeom prst="straightConnector1">
            <a:avLst/>
          </a:prstGeom>
          <a:ln w="57150" cap="rnd">
            <a:solidFill>
              <a:schemeClr val="bg2">
                <a:lumMod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838EE9A8-4399-57C6-97FF-ABAA97B805CD}"/>
              </a:ext>
            </a:extLst>
          </p:cNvPr>
          <p:cNvCxnSpPr>
            <a:cxnSpLocks/>
          </p:cNvCxnSpPr>
          <p:nvPr/>
        </p:nvCxnSpPr>
        <p:spPr>
          <a:xfrm flipH="1">
            <a:off x="10830722" y="6827431"/>
            <a:ext cx="240106" cy="0"/>
          </a:xfrm>
          <a:prstGeom prst="straightConnector1">
            <a:avLst/>
          </a:prstGeom>
          <a:ln w="38100" cap="rnd">
            <a:solidFill>
              <a:schemeClr val="accent6"/>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5BDD6D3F-A106-A3BD-2E70-6566179631FC}"/>
              </a:ext>
            </a:extLst>
          </p:cNvPr>
          <p:cNvCxnSpPr>
            <a:cxnSpLocks/>
          </p:cNvCxnSpPr>
          <p:nvPr/>
        </p:nvCxnSpPr>
        <p:spPr>
          <a:xfrm flipH="1">
            <a:off x="12651493" y="6827431"/>
            <a:ext cx="240106" cy="0"/>
          </a:xfrm>
          <a:prstGeom prst="straightConnector1">
            <a:avLst/>
          </a:prstGeom>
          <a:ln w="38100" cap="rnd">
            <a:solidFill>
              <a:schemeClr val="accent6"/>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697DC5F8-624E-D1AF-F9FA-466414ECF700}"/>
              </a:ext>
            </a:extLst>
          </p:cNvPr>
          <p:cNvCxnSpPr>
            <a:cxnSpLocks/>
          </p:cNvCxnSpPr>
          <p:nvPr/>
        </p:nvCxnSpPr>
        <p:spPr>
          <a:xfrm flipH="1">
            <a:off x="14472264" y="6827431"/>
            <a:ext cx="240106" cy="0"/>
          </a:xfrm>
          <a:prstGeom prst="straightConnector1">
            <a:avLst/>
          </a:prstGeom>
          <a:ln w="38100" cap="rnd">
            <a:solidFill>
              <a:schemeClr val="accent6"/>
            </a:solidFill>
            <a:prstDash val="sysDash"/>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5B09EA29-7EA4-29F4-EDA8-96089CFA4BC1}"/>
              </a:ext>
            </a:extLst>
          </p:cNvPr>
          <p:cNvSpPr txBox="1"/>
          <p:nvPr/>
        </p:nvSpPr>
        <p:spPr>
          <a:xfrm>
            <a:off x="9323422" y="4087392"/>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Command</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p:txBody>
      </p:sp>
      <p:sp>
        <p:nvSpPr>
          <p:cNvPr id="119" name="TextBox 118">
            <a:extLst>
              <a:ext uri="{FF2B5EF4-FFF2-40B4-BE49-F238E27FC236}">
                <a16:creationId xmlns:a16="http://schemas.microsoft.com/office/drawing/2014/main" id="{6D2FD4A4-1E6A-08C1-DC4B-2C4979D1689B}"/>
              </a:ext>
            </a:extLst>
          </p:cNvPr>
          <p:cNvSpPr txBox="1"/>
          <p:nvPr/>
        </p:nvSpPr>
        <p:spPr>
          <a:xfrm>
            <a:off x="12957050" y="4077901"/>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 - 2</a:t>
            </a:r>
          </a:p>
        </p:txBody>
      </p:sp>
      <p:sp>
        <p:nvSpPr>
          <p:cNvPr id="120" name="TextBox 119">
            <a:extLst>
              <a:ext uri="{FF2B5EF4-FFF2-40B4-BE49-F238E27FC236}">
                <a16:creationId xmlns:a16="http://schemas.microsoft.com/office/drawing/2014/main" id="{0CBBF5B0-233E-9CFB-615F-9C8A482205B8}"/>
              </a:ext>
            </a:extLst>
          </p:cNvPr>
          <p:cNvSpPr txBox="1"/>
          <p:nvPr/>
        </p:nvSpPr>
        <p:spPr>
          <a:xfrm>
            <a:off x="4765572" y="3214417"/>
            <a:ext cx="1435634" cy="1015663"/>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a:p>
            <a:pPr algn="ctr"/>
            <a:r>
              <a:rPr lang="en-GB" sz="2000" dirty="0">
                <a:solidFill>
                  <a:schemeClr val="bg2">
                    <a:lumMod val="25000"/>
                  </a:schemeClr>
                </a:solidFill>
                <a:latin typeface="Segoe UI" panose="020B0502040204020203" pitchFamily="34" charset="0"/>
                <a:cs typeface="Segoe UI" panose="020B0502040204020203" pitchFamily="34" charset="0"/>
              </a:rPr>
              <a:t>1</a:t>
            </a:r>
          </a:p>
        </p:txBody>
      </p:sp>
      <p:cxnSp>
        <p:nvCxnSpPr>
          <p:cNvPr id="122" name="Straight Arrow Connector 121">
            <a:extLst>
              <a:ext uri="{FF2B5EF4-FFF2-40B4-BE49-F238E27FC236}">
                <a16:creationId xmlns:a16="http://schemas.microsoft.com/office/drawing/2014/main" id="{A5BCA540-8AFE-CC4A-DA17-F02544EE283F}"/>
              </a:ext>
            </a:extLst>
          </p:cNvPr>
          <p:cNvCxnSpPr>
            <a:cxnSpLocks/>
          </p:cNvCxnSpPr>
          <p:nvPr/>
        </p:nvCxnSpPr>
        <p:spPr>
          <a:xfrm>
            <a:off x="11595987" y="3024374"/>
            <a:ext cx="0" cy="1873438"/>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9AB43615-7FFC-3970-64C6-E8CAA4681F62}"/>
              </a:ext>
            </a:extLst>
          </p:cNvPr>
          <p:cNvCxnSpPr>
            <a:cxnSpLocks/>
          </p:cNvCxnSpPr>
          <p:nvPr/>
        </p:nvCxnSpPr>
        <p:spPr>
          <a:xfrm>
            <a:off x="8239125" y="3046454"/>
            <a:ext cx="3333750" cy="0"/>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078DF9FD-E833-CE12-B2F6-9ABF28A8E427}"/>
              </a:ext>
            </a:extLst>
          </p:cNvPr>
          <p:cNvCxnSpPr>
            <a:cxnSpLocks/>
          </p:cNvCxnSpPr>
          <p:nvPr/>
        </p:nvCxnSpPr>
        <p:spPr>
          <a:xfrm>
            <a:off x="12177921" y="2733675"/>
            <a:ext cx="0" cy="2164137"/>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5" name="Straight Arrow Connector 134">
            <a:extLst>
              <a:ext uri="{FF2B5EF4-FFF2-40B4-BE49-F238E27FC236}">
                <a16:creationId xmlns:a16="http://schemas.microsoft.com/office/drawing/2014/main" id="{910C59E6-30B7-01F3-066A-C0F3B8EB4E86}"/>
              </a:ext>
            </a:extLst>
          </p:cNvPr>
          <p:cNvCxnSpPr>
            <a:cxnSpLocks/>
          </p:cNvCxnSpPr>
          <p:nvPr/>
        </p:nvCxnSpPr>
        <p:spPr>
          <a:xfrm>
            <a:off x="5676900" y="2757292"/>
            <a:ext cx="6484144" cy="0"/>
          </a:xfrm>
          <a:prstGeom prst="straightConnector1">
            <a:avLst/>
          </a:prstGeom>
          <a:ln w="57150" cap="rnd">
            <a:solidFill>
              <a:schemeClr val="accent2">
                <a:lumMod val="50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B736EA95-8748-238A-CB89-8F2668EA4DD2}"/>
              </a:ext>
            </a:extLst>
          </p:cNvPr>
          <p:cNvSpPr txBox="1"/>
          <p:nvPr/>
        </p:nvSpPr>
        <p:spPr>
          <a:xfrm>
            <a:off x="11136279" y="4087392"/>
            <a:ext cx="1435634" cy="707886"/>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Switch</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 - 1</a:t>
            </a:r>
          </a:p>
        </p:txBody>
      </p:sp>
      <p:sp>
        <p:nvSpPr>
          <p:cNvPr id="163" name="TextBox 162">
            <a:extLst>
              <a:ext uri="{FF2B5EF4-FFF2-40B4-BE49-F238E27FC236}">
                <a16:creationId xmlns:a16="http://schemas.microsoft.com/office/drawing/2014/main" id="{8A3D1B7B-1F19-DEE6-F180-D2C3D06E82AD}"/>
              </a:ext>
            </a:extLst>
          </p:cNvPr>
          <p:cNvSpPr txBox="1"/>
          <p:nvPr/>
        </p:nvSpPr>
        <p:spPr>
          <a:xfrm>
            <a:off x="7367082" y="9744253"/>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Solar Panel</a:t>
            </a:r>
          </a:p>
        </p:txBody>
      </p:sp>
      <p:sp>
        <p:nvSpPr>
          <p:cNvPr id="169" name="TextBox 168">
            <a:extLst>
              <a:ext uri="{FF2B5EF4-FFF2-40B4-BE49-F238E27FC236}">
                <a16:creationId xmlns:a16="http://schemas.microsoft.com/office/drawing/2014/main" id="{8C697C07-C9CF-97FA-D648-CA978F04E5FF}"/>
              </a:ext>
            </a:extLst>
          </p:cNvPr>
          <p:cNvSpPr txBox="1"/>
          <p:nvPr/>
        </p:nvSpPr>
        <p:spPr>
          <a:xfrm>
            <a:off x="2296259" y="2213429"/>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Pump - 1</a:t>
            </a:r>
          </a:p>
        </p:txBody>
      </p:sp>
      <p:cxnSp>
        <p:nvCxnSpPr>
          <p:cNvPr id="173" name="Straight Arrow Connector 172">
            <a:extLst>
              <a:ext uri="{FF2B5EF4-FFF2-40B4-BE49-F238E27FC236}">
                <a16:creationId xmlns:a16="http://schemas.microsoft.com/office/drawing/2014/main" id="{92BA2DE4-0D8D-F632-74CF-E9A5B2FCEE0C}"/>
              </a:ext>
            </a:extLst>
          </p:cNvPr>
          <p:cNvCxnSpPr>
            <a:cxnSpLocks/>
          </p:cNvCxnSpPr>
          <p:nvPr/>
        </p:nvCxnSpPr>
        <p:spPr>
          <a:xfrm flipH="1">
            <a:off x="3736975" y="1897483"/>
            <a:ext cx="871359"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26" name="Picture 2" descr="Water tank flat style vector illustration, Water storage tank, container  for storing water, cistern stock vector image 33123783 Vector Art at  Vecteezy">
            <a:extLst>
              <a:ext uri="{FF2B5EF4-FFF2-40B4-BE49-F238E27FC236}">
                <a16:creationId xmlns:a16="http://schemas.microsoft.com/office/drawing/2014/main" id="{2EC7A93F-F6E9-40C1-1A24-CC8902F37E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67" y="1186899"/>
            <a:ext cx="1437144" cy="2062081"/>
          </a:xfrm>
          <a:prstGeom prst="rect">
            <a:avLst/>
          </a:prstGeom>
          <a:noFill/>
          <a:extLst>
            <a:ext uri="{909E8E84-426E-40DD-AFC4-6F175D3DCCD1}">
              <a14:hiddenFill xmlns:a14="http://schemas.microsoft.com/office/drawing/2010/main">
                <a:solidFill>
                  <a:srgbClr val="FFFFFF"/>
                </a:solidFill>
              </a14:hiddenFill>
            </a:ext>
          </a:extLst>
        </p:spPr>
      </p:pic>
      <p:cxnSp>
        <p:nvCxnSpPr>
          <p:cNvPr id="178" name="Straight Arrow Connector 177">
            <a:extLst>
              <a:ext uri="{FF2B5EF4-FFF2-40B4-BE49-F238E27FC236}">
                <a16:creationId xmlns:a16="http://schemas.microsoft.com/office/drawing/2014/main" id="{81027379-1A19-406B-6F26-C85CAD0DE0CD}"/>
              </a:ext>
            </a:extLst>
          </p:cNvPr>
          <p:cNvCxnSpPr>
            <a:cxnSpLocks/>
          </p:cNvCxnSpPr>
          <p:nvPr/>
        </p:nvCxnSpPr>
        <p:spPr>
          <a:xfrm flipH="1">
            <a:off x="1593850" y="1150937"/>
            <a:ext cx="1667965"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C0ADEA0A-20A0-C3CD-C6FA-AA126E7EE061}"/>
              </a:ext>
            </a:extLst>
          </p:cNvPr>
          <p:cNvCxnSpPr>
            <a:cxnSpLocks/>
          </p:cNvCxnSpPr>
          <p:nvPr/>
        </p:nvCxnSpPr>
        <p:spPr>
          <a:xfrm>
            <a:off x="1570311" y="1120775"/>
            <a:ext cx="0" cy="44450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28" name="Picture 4" descr="378 Water Butt Stock Vectors and Vector Art | Shutterstock">
            <a:extLst>
              <a:ext uri="{FF2B5EF4-FFF2-40B4-BE49-F238E27FC236}">
                <a16:creationId xmlns:a16="http://schemas.microsoft.com/office/drawing/2014/main" id="{012EF8C5-A927-EFB1-FAFF-9C5311DF8B1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2415" t="8933" r="21944" b="11528"/>
          <a:stretch>
            <a:fillRect/>
          </a:stretch>
        </p:blipFill>
        <p:spPr bwMode="auto">
          <a:xfrm>
            <a:off x="2380514" y="3298266"/>
            <a:ext cx="1377943" cy="2121315"/>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186">
            <a:extLst>
              <a:ext uri="{FF2B5EF4-FFF2-40B4-BE49-F238E27FC236}">
                <a16:creationId xmlns:a16="http://schemas.microsoft.com/office/drawing/2014/main" id="{3992EBA1-67CF-84B8-A6B7-20F8E845E435}"/>
              </a:ext>
            </a:extLst>
          </p:cNvPr>
          <p:cNvPicPr>
            <a:picLocks noChangeAspect="1"/>
          </p:cNvPicPr>
          <p:nvPr/>
        </p:nvPicPr>
        <p:blipFill>
          <a:blip r:embed="rId4"/>
          <a:stretch>
            <a:fillRect/>
          </a:stretch>
        </p:blipFill>
        <p:spPr>
          <a:xfrm flipH="1">
            <a:off x="127422" y="3202557"/>
            <a:ext cx="1656563" cy="2055047"/>
          </a:xfrm>
          <a:prstGeom prst="rect">
            <a:avLst/>
          </a:prstGeom>
        </p:spPr>
      </p:pic>
      <p:sp>
        <p:nvSpPr>
          <p:cNvPr id="188" name="TextBox 187">
            <a:extLst>
              <a:ext uri="{FF2B5EF4-FFF2-40B4-BE49-F238E27FC236}">
                <a16:creationId xmlns:a16="http://schemas.microsoft.com/office/drawing/2014/main" id="{D2F5F179-155B-4B24-DA7A-C28B48048F59}"/>
              </a:ext>
            </a:extLst>
          </p:cNvPr>
          <p:cNvSpPr txBox="1"/>
          <p:nvPr/>
        </p:nvSpPr>
        <p:spPr>
          <a:xfrm>
            <a:off x="2099688" y="5176898"/>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Water Butt</a:t>
            </a:r>
          </a:p>
        </p:txBody>
      </p:sp>
      <p:cxnSp>
        <p:nvCxnSpPr>
          <p:cNvPr id="189" name="Straight Arrow Connector 188">
            <a:extLst>
              <a:ext uri="{FF2B5EF4-FFF2-40B4-BE49-F238E27FC236}">
                <a16:creationId xmlns:a16="http://schemas.microsoft.com/office/drawing/2014/main" id="{512704EA-627E-E72C-70D7-831F9553156A}"/>
              </a:ext>
            </a:extLst>
          </p:cNvPr>
          <p:cNvCxnSpPr>
            <a:cxnSpLocks/>
          </p:cNvCxnSpPr>
          <p:nvPr/>
        </p:nvCxnSpPr>
        <p:spPr>
          <a:xfrm>
            <a:off x="1272335" y="2757292"/>
            <a:ext cx="0" cy="124886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7" name="Straight Arrow Connector 1026">
            <a:extLst>
              <a:ext uri="{FF2B5EF4-FFF2-40B4-BE49-F238E27FC236}">
                <a16:creationId xmlns:a16="http://schemas.microsoft.com/office/drawing/2014/main" id="{A0DF02A9-E602-026B-65CB-79B80FBB64D0}"/>
              </a:ext>
            </a:extLst>
          </p:cNvPr>
          <p:cNvCxnSpPr>
            <a:cxnSpLocks/>
          </p:cNvCxnSpPr>
          <p:nvPr/>
        </p:nvCxnSpPr>
        <p:spPr>
          <a:xfrm>
            <a:off x="1697061" y="4828547"/>
            <a:ext cx="826434"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2" name="TextBox 1031">
            <a:extLst>
              <a:ext uri="{FF2B5EF4-FFF2-40B4-BE49-F238E27FC236}">
                <a16:creationId xmlns:a16="http://schemas.microsoft.com/office/drawing/2014/main" id="{E97AD29F-8CF0-7304-E40F-07673DE12354}"/>
              </a:ext>
            </a:extLst>
          </p:cNvPr>
          <p:cNvSpPr txBox="1"/>
          <p:nvPr/>
        </p:nvSpPr>
        <p:spPr>
          <a:xfrm>
            <a:off x="261427" y="5175779"/>
            <a:ext cx="143563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Pump - 2</a:t>
            </a:r>
          </a:p>
        </p:txBody>
      </p:sp>
      <p:sp>
        <p:nvSpPr>
          <p:cNvPr id="1033" name="TextBox 1032">
            <a:extLst>
              <a:ext uri="{FF2B5EF4-FFF2-40B4-BE49-F238E27FC236}">
                <a16:creationId xmlns:a16="http://schemas.microsoft.com/office/drawing/2014/main" id="{E129DB56-D8F7-EB58-FE72-8708BC6EF726}"/>
              </a:ext>
            </a:extLst>
          </p:cNvPr>
          <p:cNvSpPr txBox="1"/>
          <p:nvPr/>
        </p:nvSpPr>
        <p:spPr>
          <a:xfrm>
            <a:off x="0" y="1876319"/>
            <a:ext cx="1667964"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Water Tank</a:t>
            </a:r>
          </a:p>
        </p:txBody>
      </p:sp>
      <p:cxnSp>
        <p:nvCxnSpPr>
          <p:cNvPr id="1034" name="Straight Arrow Connector 1033">
            <a:extLst>
              <a:ext uri="{FF2B5EF4-FFF2-40B4-BE49-F238E27FC236}">
                <a16:creationId xmlns:a16="http://schemas.microsoft.com/office/drawing/2014/main" id="{B9199B91-022A-6C2D-8F97-AB888CAC582A}"/>
              </a:ext>
            </a:extLst>
          </p:cNvPr>
          <p:cNvCxnSpPr>
            <a:cxnSpLocks/>
          </p:cNvCxnSpPr>
          <p:nvPr/>
        </p:nvCxnSpPr>
        <p:spPr>
          <a:xfrm flipH="1">
            <a:off x="6307431" y="1887852"/>
            <a:ext cx="866978" cy="0"/>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1036">
            <a:extLst>
              <a:ext uri="{FF2B5EF4-FFF2-40B4-BE49-F238E27FC236}">
                <a16:creationId xmlns:a16="http://schemas.microsoft.com/office/drawing/2014/main" id="{B732E60A-8746-8583-224C-F6BFCB56205C}"/>
              </a:ext>
            </a:extLst>
          </p:cNvPr>
          <p:cNvCxnSpPr>
            <a:cxnSpLocks/>
            <a:stCxn id="1058" idx="1"/>
          </p:cNvCxnSpPr>
          <p:nvPr/>
        </p:nvCxnSpPr>
        <p:spPr>
          <a:xfrm flipH="1">
            <a:off x="9397782" y="1884352"/>
            <a:ext cx="872906" cy="3500"/>
          </a:xfrm>
          <a:prstGeom prst="straightConnector1">
            <a:avLst/>
          </a:prstGeom>
          <a:ln w="57150" cap="rnd">
            <a:solidFill>
              <a:schemeClr val="tx2">
                <a:lumMod val="75000"/>
                <a:lumOff val="25000"/>
              </a:schemeClr>
            </a:solidFill>
            <a:prstDash val="sysDash"/>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3" name="Straight Arrow Connector 1042">
            <a:extLst>
              <a:ext uri="{FF2B5EF4-FFF2-40B4-BE49-F238E27FC236}">
                <a16:creationId xmlns:a16="http://schemas.microsoft.com/office/drawing/2014/main" id="{FCDDF72D-6B2D-69EF-8585-9C2FF263336B}"/>
              </a:ext>
            </a:extLst>
          </p:cNvPr>
          <p:cNvCxnSpPr>
            <a:cxnSpLocks/>
            <a:stCxn id="169" idx="2"/>
          </p:cNvCxnSpPr>
          <p:nvPr/>
        </p:nvCxnSpPr>
        <p:spPr>
          <a:xfrm>
            <a:off x="3014076" y="2613539"/>
            <a:ext cx="1594258" cy="2822855"/>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3" name="Straight Arrow Connector 1052">
            <a:extLst>
              <a:ext uri="{FF2B5EF4-FFF2-40B4-BE49-F238E27FC236}">
                <a16:creationId xmlns:a16="http://schemas.microsoft.com/office/drawing/2014/main" id="{755A636D-7252-132D-AB92-CA3ABAC3391D}"/>
              </a:ext>
            </a:extLst>
          </p:cNvPr>
          <p:cNvCxnSpPr>
            <a:cxnSpLocks/>
            <a:stCxn id="1032" idx="2"/>
          </p:cNvCxnSpPr>
          <p:nvPr/>
        </p:nvCxnSpPr>
        <p:spPr>
          <a:xfrm>
            <a:off x="979244" y="5575889"/>
            <a:ext cx="905761" cy="308895"/>
          </a:xfrm>
          <a:prstGeom prst="straightConnector1">
            <a:avLst/>
          </a:prstGeom>
          <a:ln w="57150" cap="rnd">
            <a:solidFill>
              <a:schemeClr val="accent2">
                <a:lumMod val="7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58" name="TextBox 1057">
            <a:extLst>
              <a:ext uri="{FF2B5EF4-FFF2-40B4-BE49-F238E27FC236}">
                <a16:creationId xmlns:a16="http://schemas.microsoft.com/office/drawing/2014/main" id="{DF775CFD-BB07-D747-F208-EFC63758F145}"/>
              </a:ext>
            </a:extLst>
          </p:cNvPr>
          <p:cNvSpPr txBox="1"/>
          <p:nvPr/>
        </p:nvSpPr>
        <p:spPr>
          <a:xfrm>
            <a:off x="10270688" y="1684297"/>
            <a:ext cx="2223373"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 Valve Modules</a:t>
            </a:r>
          </a:p>
        </p:txBody>
      </p:sp>
      <p:sp>
        <p:nvSpPr>
          <p:cNvPr id="1059" name="TextBox 1058">
            <a:extLst>
              <a:ext uri="{FF2B5EF4-FFF2-40B4-BE49-F238E27FC236}">
                <a16:creationId xmlns:a16="http://schemas.microsoft.com/office/drawing/2014/main" id="{EBB1ECFB-0866-91C6-AB2B-141D61A22D24}"/>
              </a:ext>
            </a:extLst>
          </p:cNvPr>
          <p:cNvSpPr txBox="1"/>
          <p:nvPr/>
        </p:nvSpPr>
        <p:spPr>
          <a:xfrm rot="16200000">
            <a:off x="13775657" y="6993631"/>
            <a:ext cx="2223373"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 Switch Modules</a:t>
            </a:r>
          </a:p>
        </p:txBody>
      </p:sp>
      <p:sp>
        <p:nvSpPr>
          <p:cNvPr id="1073" name="TextBox 1072">
            <a:extLst>
              <a:ext uri="{FF2B5EF4-FFF2-40B4-BE49-F238E27FC236}">
                <a16:creationId xmlns:a16="http://schemas.microsoft.com/office/drawing/2014/main" id="{05463A60-2B8B-2530-F3EB-125115B21BF6}"/>
              </a:ext>
            </a:extLst>
          </p:cNvPr>
          <p:cNvSpPr txBox="1"/>
          <p:nvPr/>
        </p:nvSpPr>
        <p:spPr>
          <a:xfrm>
            <a:off x="7294615" y="3202557"/>
            <a:ext cx="1435634" cy="1015663"/>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Valve</a:t>
            </a:r>
          </a:p>
          <a:p>
            <a:pPr algn="ctr"/>
            <a:r>
              <a:rPr lang="en-GB" sz="2000" dirty="0">
                <a:solidFill>
                  <a:schemeClr val="bg2">
                    <a:lumMod val="25000"/>
                  </a:schemeClr>
                </a:solidFill>
                <a:latin typeface="Segoe UI" panose="020B0502040204020203" pitchFamily="34" charset="0"/>
                <a:cs typeface="Segoe UI" panose="020B0502040204020203" pitchFamily="34" charset="0"/>
              </a:rPr>
              <a:t>Module</a:t>
            </a:r>
          </a:p>
          <a:p>
            <a:pPr algn="ctr"/>
            <a:r>
              <a:rPr lang="en-GB" sz="2000" dirty="0">
                <a:solidFill>
                  <a:schemeClr val="bg2">
                    <a:lumMod val="25000"/>
                  </a:schemeClr>
                </a:solidFill>
                <a:latin typeface="Segoe UI" panose="020B0502040204020203" pitchFamily="34" charset="0"/>
                <a:cs typeface="Segoe UI" panose="020B0502040204020203" pitchFamily="34" charset="0"/>
              </a:rPr>
              <a:t>2</a:t>
            </a:r>
          </a:p>
        </p:txBody>
      </p:sp>
      <p:cxnSp>
        <p:nvCxnSpPr>
          <p:cNvPr id="1079" name="Straight Arrow Connector 1078">
            <a:extLst>
              <a:ext uri="{FF2B5EF4-FFF2-40B4-BE49-F238E27FC236}">
                <a16:creationId xmlns:a16="http://schemas.microsoft.com/office/drawing/2014/main" id="{213A180F-80C1-9B82-F094-B75AA4EB18C1}"/>
              </a:ext>
            </a:extLst>
          </p:cNvPr>
          <p:cNvCxnSpPr>
            <a:cxnSpLocks/>
          </p:cNvCxnSpPr>
          <p:nvPr/>
        </p:nvCxnSpPr>
        <p:spPr>
          <a:xfrm flipH="1" flipV="1">
            <a:off x="8013499" y="4622371"/>
            <a:ext cx="10157" cy="2051479"/>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83" name="Picture 6" descr="Sprout of plant, small plant with piece of earth in cartoon style">
            <a:extLst>
              <a:ext uri="{FF2B5EF4-FFF2-40B4-BE49-F238E27FC236}">
                <a16:creationId xmlns:a16="http://schemas.microsoft.com/office/drawing/2014/main" id="{D660AE3C-6900-FA95-9DB5-A4EF468D5D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03201" y="6963573"/>
            <a:ext cx="508201" cy="626446"/>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 descr="Sprout of plant, small plant with piece of earth in cartoon style">
            <a:extLst>
              <a:ext uri="{FF2B5EF4-FFF2-40B4-BE49-F238E27FC236}">
                <a16:creationId xmlns:a16="http://schemas.microsoft.com/office/drawing/2014/main" id="{07A27064-CFA8-81A6-6AC2-AC02DDF8C4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80750" y="6963573"/>
            <a:ext cx="508201" cy="626446"/>
          </a:xfrm>
          <a:prstGeom prst="rect">
            <a:avLst/>
          </a:prstGeom>
          <a:noFill/>
          <a:extLst>
            <a:ext uri="{909E8E84-426E-40DD-AFC4-6F175D3DCCD1}">
              <a14:hiddenFill xmlns:a14="http://schemas.microsoft.com/office/drawing/2010/main">
                <a:solidFill>
                  <a:srgbClr val="FFFFFF"/>
                </a:solidFill>
              </a14:hiddenFill>
            </a:ext>
          </a:extLst>
        </p:spPr>
      </p:pic>
      <p:pic>
        <p:nvPicPr>
          <p:cNvPr id="1085" name="Picture 6" descr="Sprout of plant, small plant with piece of earth in cartoon style">
            <a:extLst>
              <a:ext uri="{FF2B5EF4-FFF2-40B4-BE49-F238E27FC236}">
                <a16:creationId xmlns:a16="http://schemas.microsoft.com/office/drawing/2014/main" id="{84522E25-E5C3-4DEB-5804-6E35123DD9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58299" y="6963573"/>
            <a:ext cx="508201" cy="626446"/>
          </a:xfrm>
          <a:prstGeom prst="rect">
            <a:avLst/>
          </a:prstGeom>
          <a:noFill/>
          <a:extLst>
            <a:ext uri="{909E8E84-426E-40DD-AFC4-6F175D3DCCD1}">
              <a14:hiddenFill xmlns:a14="http://schemas.microsoft.com/office/drawing/2010/main">
                <a:solidFill>
                  <a:srgbClr val="FFFFFF"/>
                </a:solidFill>
              </a14:hiddenFill>
            </a:ext>
          </a:extLst>
        </p:spPr>
      </p:pic>
      <p:cxnSp>
        <p:nvCxnSpPr>
          <p:cNvPr id="1088" name="Connector: Curved 1087">
            <a:extLst>
              <a:ext uri="{FF2B5EF4-FFF2-40B4-BE49-F238E27FC236}">
                <a16:creationId xmlns:a16="http://schemas.microsoft.com/office/drawing/2014/main" id="{D05FEC54-5CBB-5787-31B7-7075F07DC455}"/>
              </a:ext>
            </a:extLst>
          </p:cNvPr>
          <p:cNvCxnSpPr>
            <a:cxnSpLocks/>
            <a:endCxn id="1083" idx="0"/>
          </p:cNvCxnSpPr>
          <p:nvPr/>
        </p:nvCxnSpPr>
        <p:spPr>
          <a:xfrm>
            <a:off x="8034851" y="6645391"/>
            <a:ext cx="622451"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092" name="Connector: Curved 1091">
            <a:extLst>
              <a:ext uri="{FF2B5EF4-FFF2-40B4-BE49-F238E27FC236}">
                <a16:creationId xmlns:a16="http://schemas.microsoft.com/office/drawing/2014/main" id="{ABABB2C5-4B9B-1E0D-3707-E33E61FBD9B6}"/>
              </a:ext>
            </a:extLst>
          </p:cNvPr>
          <p:cNvCxnSpPr>
            <a:cxnSpLocks/>
            <a:endCxn id="1085" idx="0"/>
          </p:cNvCxnSpPr>
          <p:nvPr/>
        </p:nvCxnSpPr>
        <p:spPr>
          <a:xfrm rot="10800000" flipV="1">
            <a:off x="7412400" y="6645391"/>
            <a:ext cx="606518"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095" name="Connector: Curved 1094">
            <a:extLst>
              <a:ext uri="{FF2B5EF4-FFF2-40B4-BE49-F238E27FC236}">
                <a16:creationId xmlns:a16="http://schemas.microsoft.com/office/drawing/2014/main" id="{50CB0F06-A5CF-5178-83B0-865DECC9381C}"/>
              </a:ext>
            </a:extLst>
          </p:cNvPr>
          <p:cNvCxnSpPr>
            <a:cxnSpLocks/>
            <a:endCxn id="1084" idx="0"/>
          </p:cNvCxnSpPr>
          <p:nvPr/>
        </p:nvCxnSpPr>
        <p:spPr>
          <a:xfrm rot="16200000" flipH="1">
            <a:off x="7801046" y="6729767"/>
            <a:ext cx="451677" cy="15933"/>
          </a:xfrm>
          <a:prstGeom prst="curvedConnector3">
            <a:avLst>
              <a:gd name="adj1" fmla="val 50000"/>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04" name="Straight Arrow Connector 1103">
            <a:extLst>
              <a:ext uri="{FF2B5EF4-FFF2-40B4-BE49-F238E27FC236}">
                <a16:creationId xmlns:a16="http://schemas.microsoft.com/office/drawing/2014/main" id="{E303FEFE-7CB7-6B5D-7CD9-F1A87667C9D7}"/>
              </a:ext>
            </a:extLst>
          </p:cNvPr>
          <p:cNvCxnSpPr>
            <a:cxnSpLocks/>
          </p:cNvCxnSpPr>
          <p:nvPr/>
        </p:nvCxnSpPr>
        <p:spPr>
          <a:xfrm flipV="1">
            <a:off x="5990869" y="5160642"/>
            <a:ext cx="0" cy="1513208"/>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105" name="Picture 6" descr="Sprout of plant, small plant with piece of earth in cartoon style">
            <a:extLst>
              <a:ext uri="{FF2B5EF4-FFF2-40B4-BE49-F238E27FC236}">
                <a16:creationId xmlns:a16="http://schemas.microsoft.com/office/drawing/2014/main" id="{D561E174-E1D3-8149-5A06-C0D9C53C687A}"/>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6370414" y="6963573"/>
            <a:ext cx="508201" cy="626446"/>
          </a:xfrm>
          <a:prstGeom prst="rect">
            <a:avLst/>
          </a:prstGeom>
          <a:noFill/>
        </p:spPr>
      </p:pic>
      <p:pic>
        <p:nvPicPr>
          <p:cNvPr id="1106" name="Picture 6" descr="Sprout of plant, small plant with piece of earth in cartoon style">
            <a:extLst>
              <a:ext uri="{FF2B5EF4-FFF2-40B4-BE49-F238E27FC236}">
                <a16:creationId xmlns:a16="http://schemas.microsoft.com/office/drawing/2014/main" id="{6B6720F6-F434-6F8C-3D34-A4AEB6A2CF47}"/>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747963" y="6963573"/>
            <a:ext cx="508201" cy="626446"/>
          </a:xfrm>
          <a:prstGeom prst="rect">
            <a:avLst/>
          </a:prstGeom>
          <a:noFill/>
        </p:spPr>
      </p:pic>
      <p:pic>
        <p:nvPicPr>
          <p:cNvPr id="1107" name="Picture 6" descr="Sprout of plant, small plant with piece of earth in cartoon style">
            <a:extLst>
              <a:ext uri="{FF2B5EF4-FFF2-40B4-BE49-F238E27FC236}">
                <a16:creationId xmlns:a16="http://schemas.microsoft.com/office/drawing/2014/main" id="{AC2902C1-FFA3-D81E-47C2-E4B523ED5973}"/>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5125512" y="6963573"/>
            <a:ext cx="508201" cy="626446"/>
          </a:xfrm>
          <a:prstGeom prst="rect">
            <a:avLst/>
          </a:prstGeom>
          <a:noFill/>
        </p:spPr>
      </p:pic>
      <p:cxnSp>
        <p:nvCxnSpPr>
          <p:cNvPr id="1108" name="Connector: Curved 1107">
            <a:extLst>
              <a:ext uri="{FF2B5EF4-FFF2-40B4-BE49-F238E27FC236}">
                <a16:creationId xmlns:a16="http://schemas.microsoft.com/office/drawing/2014/main" id="{6F907575-D536-4883-44CF-5D192DFC59B1}"/>
              </a:ext>
            </a:extLst>
          </p:cNvPr>
          <p:cNvCxnSpPr>
            <a:cxnSpLocks/>
            <a:endCxn id="1105" idx="0"/>
          </p:cNvCxnSpPr>
          <p:nvPr/>
        </p:nvCxnSpPr>
        <p:spPr>
          <a:xfrm>
            <a:off x="6002064" y="6645391"/>
            <a:ext cx="622451"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09" name="Connector: Curved 1108">
            <a:extLst>
              <a:ext uri="{FF2B5EF4-FFF2-40B4-BE49-F238E27FC236}">
                <a16:creationId xmlns:a16="http://schemas.microsoft.com/office/drawing/2014/main" id="{D2EC0C43-94DF-C97D-1352-8CF559BEC5C0}"/>
              </a:ext>
            </a:extLst>
          </p:cNvPr>
          <p:cNvCxnSpPr>
            <a:cxnSpLocks/>
            <a:endCxn id="1107" idx="0"/>
          </p:cNvCxnSpPr>
          <p:nvPr/>
        </p:nvCxnSpPr>
        <p:spPr>
          <a:xfrm rot="10800000" flipV="1">
            <a:off x="5379613" y="6645391"/>
            <a:ext cx="606518" cy="318182"/>
          </a:xfrm>
          <a:prstGeom prst="curvedConnector2">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10" name="Connector: Curved 1109">
            <a:extLst>
              <a:ext uri="{FF2B5EF4-FFF2-40B4-BE49-F238E27FC236}">
                <a16:creationId xmlns:a16="http://schemas.microsoft.com/office/drawing/2014/main" id="{0D9963F4-784D-5F47-5B8B-99E63267F17E}"/>
              </a:ext>
            </a:extLst>
          </p:cNvPr>
          <p:cNvCxnSpPr>
            <a:cxnSpLocks/>
            <a:endCxn id="1106" idx="0"/>
          </p:cNvCxnSpPr>
          <p:nvPr/>
        </p:nvCxnSpPr>
        <p:spPr>
          <a:xfrm rot="16200000" flipH="1">
            <a:off x="5768259" y="6729767"/>
            <a:ext cx="451677" cy="15933"/>
          </a:xfrm>
          <a:prstGeom prst="curvedConnector3">
            <a:avLst>
              <a:gd name="adj1" fmla="val 50000"/>
            </a:avLst>
          </a:prstGeom>
          <a:ln w="25400" cap="rnd">
            <a:prstDash val="sysDash"/>
            <a:round/>
            <a:headEnd type="none"/>
            <a:tailEnd type="arrow"/>
          </a:ln>
        </p:spPr>
        <p:style>
          <a:lnRef idx="2">
            <a:schemeClr val="accent1"/>
          </a:lnRef>
          <a:fillRef idx="0">
            <a:schemeClr val="accent1"/>
          </a:fillRef>
          <a:effectRef idx="1">
            <a:schemeClr val="accent1"/>
          </a:effectRef>
          <a:fontRef idx="minor">
            <a:schemeClr val="tx1"/>
          </a:fontRef>
        </p:style>
      </p:cxnSp>
      <p:cxnSp>
        <p:nvCxnSpPr>
          <p:cNvPr id="1114" name="Straight Arrow Connector 1113">
            <a:extLst>
              <a:ext uri="{FF2B5EF4-FFF2-40B4-BE49-F238E27FC236}">
                <a16:creationId xmlns:a16="http://schemas.microsoft.com/office/drawing/2014/main" id="{0B4F9350-CCE2-07EE-F50E-DC8657FC9F71}"/>
              </a:ext>
            </a:extLst>
          </p:cNvPr>
          <p:cNvCxnSpPr>
            <a:cxnSpLocks/>
          </p:cNvCxnSpPr>
          <p:nvPr/>
        </p:nvCxnSpPr>
        <p:spPr>
          <a:xfrm flipV="1">
            <a:off x="5460857" y="4622371"/>
            <a:ext cx="0" cy="561954"/>
          </a:xfrm>
          <a:prstGeom prst="straightConnector1">
            <a:avLst/>
          </a:prstGeom>
          <a:ln w="57150" cap="rnd">
            <a:solidFill>
              <a:schemeClr val="tx2">
                <a:lumMod val="75000"/>
                <a:lumOff val="25000"/>
              </a:schemeClr>
            </a:solidFill>
            <a:round/>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17" name="Straight Arrow Connector 1116">
            <a:extLst>
              <a:ext uri="{FF2B5EF4-FFF2-40B4-BE49-F238E27FC236}">
                <a16:creationId xmlns:a16="http://schemas.microsoft.com/office/drawing/2014/main" id="{C94E8D45-AAF0-731B-33EE-02E2AF2BA693}"/>
              </a:ext>
            </a:extLst>
          </p:cNvPr>
          <p:cNvCxnSpPr>
            <a:cxnSpLocks/>
          </p:cNvCxnSpPr>
          <p:nvPr/>
        </p:nvCxnSpPr>
        <p:spPr>
          <a:xfrm flipH="1">
            <a:off x="5483389" y="5160642"/>
            <a:ext cx="502742" cy="0"/>
          </a:xfrm>
          <a:prstGeom prst="straightConnector1">
            <a:avLst/>
          </a:prstGeom>
          <a:ln w="57150" cap="rnd">
            <a:solidFill>
              <a:schemeClr val="tx2">
                <a:lumMod val="75000"/>
                <a:lumOff val="25000"/>
              </a:schemeClr>
            </a:solidFill>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123" name="TextBox 1122">
            <a:extLst>
              <a:ext uri="{FF2B5EF4-FFF2-40B4-BE49-F238E27FC236}">
                <a16:creationId xmlns:a16="http://schemas.microsoft.com/office/drawing/2014/main" id="{F5122B6D-3FBA-27B1-BB83-C587FC890D5B}"/>
              </a:ext>
            </a:extLst>
          </p:cNvPr>
          <p:cNvSpPr txBox="1"/>
          <p:nvPr/>
        </p:nvSpPr>
        <p:spPr>
          <a:xfrm>
            <a:off x="8235389" y="7609191"/>
            <a:ext cx="1989195" cy="400110"/>
          </a:xfrm>
          <a:prstGeom prst="rect">
            <a:avLst/>
          </a:prstGeom>
          <a:noFill/>
        </p:spPr>
        <p:txBody>
          <a:bodyPr wrap="square" rtlCol="0" anchor="ctr">
            <a:spAutoFit/>
          </a:bodyPr>
          <a:lstStyle/>
          <a:p>
            <a:pPr algn="ctr"/>
            <a:r>
              <a:rPr lang="en-GB" sz="2000" dirty="0">
                <a:solidFill>
                  <a:schemeClr val="bg2">
                    <a:lumMod val="25000"/>
                  </a:schemeClr>
                </a:solidFill>
                <a:latin typeface="Segoe UI" panose="020B0502040204020203" pitchFamily="34" charset="0"/>
                <a:cs typeface="Segoe UI" panose="020B0502040204020203" pitchFamily="34" charset="0"/>
              </a:rPr>
              <a:t>Solar Charging</a:t>
            </a:r>
          </a:p>
        </p:txBody>
      </p:sp>
      <p:sp>
        <p:nvSpPr>
          <p:cNvPr id="1124" name="TextBox 1123">
            <a:extLst>
              <a:ext uri="{FF2B5EF4-FFF2-40B4-BE49-F238E27FC236}">
                <a16:creationId xmlns:a16="http://schemas.microsoft.com/office/drawing/2014/main" id="{2BD9FD22-339C-A029-EC7E-64B28B85DECC}"/>
              </a:ext>
            </a:extLst>
          </p:cNvPr>
          <p:cNvSpPr txBox="1"/>
          <p:nvPr/>
        </p:nvSpPr>
        <p:spPr>
          <a:xfrm>
            <a:off x="10348686" y="8168779"/>
            <a:ext cx="3460832" cy="400110"/>
          </a:xfrm>
          <a:prstGeom prst="rect">
            <a:avLst/>
          </a:prstGeom>
          <a:noFill/>
        </p:spPr>
        <p:txBody>
          <a:bodyPr wrap="square" rtlCol="0" anchor="ctr">
            <a:spAutoFit/>
          </a:bodyPr>
          <a:lstStyle/>
          <a:p>
            <a:r>
              <a:rPr lang="en-GB" sz="2000" dirty="0">
                <a:solidFill>
                  <a:schemeClr val="bg2">
                    <a:lumMod val="25000"/>
                  </a:schemeClr>
                </a:solidFill>
                <a:latin typeface="Segoe UI" panose="020B0502040204020203" pitchFamily="34" charset="0"/>
                <a:cs typeface="Segoe UI" panose="020B0502040204020203" pitchFamily="34" charset="0"/>
              </a:rPr>
              <a:t>Power Chaining …</a:t>
            </a:r>
          </a:p>
        </p:txBody>
      </p:sp>
    </p:spTree>
    <p:extLst>
      <p:ext uri="{BB962C8B-B14F-4D97-AF65-F5344CB8AC3E}">
        <p14:creationId xmlns:p14="http://schemas.microsoft.com/office/powerpoint/2010/main" val="709430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ACF4C8-43A2-993F-E03B-69358A290FCD}"/>
              </a:ext>
            </a:extLst>
          </p:cNvPr>
          <p:cNvPicPr>
            <a:picLocks noChangeAspect="1"/>
          </p:cNvPicPr>
          <p:nvPr/>
        </p:nvPicPr>
        <p:blipFill>
          <a:blip r:embed="rId2"/>
          <a:srcRect l="7402" t="64464" r="62088" b="6173"/>
          <a:stretch>
            <a:fillRect/>
          </a:stretch>
        </p:blipFill>
        <p:spPr>
          <a:xfrm>
            <a:off x="1119116" y="6892119"/>
            <a:ext cx="4612944" cy="3138985"/>
          </a:xfrm>
          <a:prstGeom prst="rect">
            <a:avLst/>
          </a:prstGeom>
        </p:spPr>
      </p:pic>
      <p:pic>
        <p:nvPicPr>
          <p:cNvPr id="9" name="Picture 8">
            <a:extLst>
              <a:ext uri="{FF2B5EF4-FFF2-40B4-BE49-F238E27FC236}">
                <a16:creationId xmlns:a16="http://schemas.microsoft.com/office/drawing/2014/main" id="{ACC74883-F3F7-58D2-F9D4-0419CBE025A9}"/>
              </a:ext>
            </a:extLst>
          </p:cNvPr>
          <p:cNvPicPr>
            <a:picLocks noChangeAspect="1"/>
          </p:cNvPicPr>
          <p:nvPr/>
        </p:nvPicPr>
        <p:blipFill>
          <a:blip r:embed="rId2"/>
          <a:srcRect l="10020" t="42250" r="61456" b="45494"/>
          <a:stretch>
            <a:fillRect/>
          </a:stretch>
        </p:blipFill>
        <p:spPr>
          <a:xfrm>
            <a:off x="1514900" y="4517409"/>
            <a:ext cx="4312693" cy="1310185"/>
          </a:xfrm>
          <a:prstGeom prst="rect">
            <a:avLst/>
          </a:prstGeom>
        </p:spPr>
      </p:pic>
    </p:spTree>
    <p:extLst>
      <p:ext uri="{BB962C8B-B14F-4D97-AF65-F5344CB8AC3E}">
        <p14:creationId xmlns:p14="http://schemas.microsoft.com/office/powerpoint/2010/main" val="28141012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1376</TotalTime>
  <Words>563</Words>
  <Application>Microsoft Office PowerPoint</Application>
  <PresentationFormat>Custom</PresentationFormat>
  <Paragraphs>59</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Segoe UI</vt:lpstr>
      <vt:lpstr>Office Theme</vt:lpstr>
      <vt:lpstr>Regulated Irrigation System (RIS)</vt:lpstr>
      <vt:lpstr>Regulated Irrigation System (RIS)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Dixon</dc:creator>
  <cp:lastModifiedBy>Samuel Dixon</cp:lastModifiedBy>
  <cp:revision>486</cp:revision>
  <cp:lastPrinted>2025-12-10T21:47:23Z</cp:lastPrinted>
  <dcterms:created xsi:type="dcterms:W3CDTF">2025-11-23T10:04:14Z</dcterms:created>
  <dcterms:modified xsi:type="dcterms:W3CDTF">2026-01-03T21:26:49Z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559e1-065f-48bd-9ddf-4bc014495b9d_Enabled">
    <vt:lpwstr>true</vt:lpwstr>
  </property>
  <property fmtid="{D5CDD505-2E9C-101B-9397-08002B2CF9AE}" pid="3" name="MSIP_Label_ce7559e1-065f-48bd-9ddf-4bc014495b9d_SetDate">
    <vt:lpwstr>2025-11-23T10:22:23Z</vt:lpwstr>
  </property>
  <property fmtid="{D5CDD505-2E9C-101B-9397-08002B2CF9AE}" pid="4" name="MSIP_Label_ce7559e1-065f-48bd-9ddf-4bc014495b9d_Method">
    <vt:lpwstr>Standard</vt:lpwstr>
  </property>
  <property fmtid="{D5CDD505-2E9C-101B-9397-08002B2CF9AE}" pid="5" name="MSIP_Label_ce7559e1-065f-48bd-9ddf-4bc014495b9d_Name">
    <vt:lpwstr>defa4170-0d19-0005-0004-bc88714345d2</vt:lpwstr>
  </property>
  <property fmtid="{D5CDD505-2E9C-101B-9397-08002B2CF9AE}" pid="6" name="MSIP_Label_ce7559e1-065f-48bd-9ddf-4bc014495b9d_SiteId">
    <vt:lpwstr>854b4310-0dbf-4241-ae41-4df0a4f8db92</vt:lpwstr>
  </property>
  <property fmtid="{D5CDD505-2E9C-101B-9397-08002B2CF9AE}" pid="7" name="MSIP_Label_ce7559e1-065f-48bd-9ddf-4bc014495b9d_ActionId">
    <vt:lpwstr>fb825982-6a52-463c-84e2-c32f73db81d3</vt:lpwstr>
  </property>
  <property fmtid="{D5CDD505-2E9C-101B-9397-08002B2CF9AE}" pid="8" name="MSIP_Label_ce7559e1-065f-48bd-9ddf-4bc014495b9d_ContentBits">
    <vt:lpwstr>0</vt:lpwstr>
  </property>
  <property fmtid="{D5CDD505-2E9C-101B-9397-08002B2CF9AE}" pid="9" name="MSIP_Label_ce7559e1-065f-48bd-9ddf-4bc014495b9d_Tag">
    <vt:lpwstr>10, 3, 0, 1</vt:lpwstr>
  </property>
</Properties>
</file>