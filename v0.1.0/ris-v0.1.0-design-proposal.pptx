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5119350" cy="10691813"/>
  <p:notesSz cx="10234613" cy="146637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 userDrawn="1">
          <p15:clr>
            <a:srgbClr val="A4A3A4"/>
          </p15:clr>
        </p15:guide>
        <p15:guide id="2" pos="226" userDrawn="1">
          <p15:clr>
            <a:srgbClr val="A4A3A4"/>
          </p15:clr>
        </p15:guide>
        <p15:guide id="3" orient="horz" pos="6497" userDrawn="1">
          <p15:clr>
            <a:srgbClr val="A4A3A4"/>
          </p15:clr>
        </p15:guide>
        <p15:guide id="4" pos="92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D1D9"/>
    <a:srgbClr val="FFFF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63" autoAdjust="0"/>
  </p:normalViewPr>
  <p:slideViewPr>
    <p:cSldViewPr snapToGrid="0">
      <p:cViewPr varScale="1">
        <p:scale>
          <a:sx n="72" d="100"/>
          <a:sy n="72" d="100"/>
        </p:scale>
        <p:origin x="1410" y="60"/>
      </p:cViewPr>
      <p:guideLst>
        <p:guide orient="horz" pos="238"/>
        <p:guide pos="226"/>
        <p:guide orient="horz" pos="6497"/>
        <p:guide pos="929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en-US"/>
              <a:t>Click to edit Master title style</a:t>
            </a:r>
            <a:endParaRPr lang="en-US" dirty="0"/>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1366016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974777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en-US"/>
              <a:t>Click to edit Master title style</a:t>
            </a:r>
            <a:endParaRPr lang="en-US" dirty="0"/>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tint val="82000"/>
                  </a:schemeClr>
                </a:solidFill>
              </a:defRPr>
            </a:lvl1pPr>
            <a:lvl2pPr marL="712775" indent="0">
              <a:buNone/>
              <a:defRPr sz="3118">
                <a:solidFill>
                  <a:schemeClr val="tx1">
                    <a:tint val="82000"/>
                  </a:schemeClr>
                </a:solidFill>
              </a:defRPr>
            </a:lvl2pPr>
            <a:lvl3pPr marL="1425550" indent="0">
              <a:buNone/>
              <a:defRPr sz="2806">
                <a:solidFill>
                  <a:schemeClr val="tx1">
                    <a:tint val="82000"/>
                  </a:schemeClr>
                </a:solidFill>
              </a:defRPr>
            </a:lvl3pPr>
            <a:lvl4pPr marL="2138324" indent="0">
              <a:buNone/>
              <a:defRPr sz="2494">
                <a:solidFill>
                  <a:schemeClr val="tx1">
                    <a:tint val="82000"/>
                  </a:schemeClr>
                </a:solidFill>
              </a:defRPr>
            </a:lvl4pPr>
            <a:lvl5pPr marL="2851099" indent="0">
              <a:buNone/>
              <a:defRPr sz="2494">
                <a:solidFill>
                  <a:schemeClr val="tx1">
                    <a:tint val="82000"/>
                  </a:schemeClr>
                </a:solidFill>
              </a:defRPr>
            </a:lvl5pPr>
            <a:lvl6pPr marL="3563874" indent="0">
              <a:buNone/>
              <a:defRPr sz="2494">
                <a:solidFill>
                  <a:schemeClr val="tx1">
                    <a:tint val="82000"/>
                  </a:schemeClr>
                </a:solidFill>
              </a:defRPr>
            </a:lvl6pPr>
            <a:lvl7pPr marL="4276649" indent="0">
              <a:buNone/>
              <a:defRPr sz="2494">
                <a:solidFill>
                  <a:schemeClr val="tx1">
                    <a:tint val="82000"/>
                  </a:schemeClr>
                </a:solidFill>
              </a:defRPr>
            </a:lvl7pPr>
            <a:lvl8pPr marL="4989424" indent="0">
              <a:buNone/>
              <a:defRPr sz="2494">
                <a:solidFill>
                  <a:schemeClr val="tx1">
                    <a:tint val="82000"/>
                  </a:schemeClr>
                </a:solidFill>
              </a:defRPr>
            </a:lvl8pPr>
            <a:lvl9pPr marL="5702198" indent="0">
              <a:buNone/>
              <a:defRPr sz="249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4030687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EA1182-88C4-47C8-A7E1-E417A068045C}" type="datetimeFigureOut">
              <a:rPr lang="en-GB" smtClean="0"/>
              <a:t>12/03/2026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587143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4" name="Content Placeholder 3"/>
          <p:cNvSpPr>
            <a:spLocks noGrp="1"/>
          </p:cNvSpPr>
          <p:nvPr>
            <p:ph sz="half" idx="2"/>
          </p:nvPr>
        </p:nvSpPr>
        <p:spPr>
          <a:xfrm>
            <a:off x="1041426" y="3905482"/>
            <a:ext cx="63961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6" name="Content Placeholder 5"/>
          <p:cNvSpPr>
            <a:spLocks noGrp="1"/>
          </p:cNvSpPr>
          <p:nvPr>
            <p:ph sz="quarter" idx="4"/>
          </p:nvPr>
        </p:nvSpPr>
        <p:spPr>
          <a:xfrm>
            <a:off x="7654172" y="3905482"/>
            <a:ext cx="64276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EA1182-88C4-47C8-A7E1-E417A068045C}" type="datetimeFigureOut">
              <a:rPr lang="en-GB" smtClean="0"/>
              <a:t>12/03/2026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85208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EA1182-88C4-47C8-A7E1-E417A068045C}" type="datetimeFigureOut">
              <a:rPr lang="en-GB" smtClean="0"/>
              <a:t>12/03/2026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125035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A1182-88C4-47C8-A7E1-E417A068045C}" type="datetimeFigureOut">
              <a:rPr lang="en-GB" smtClean="0"/>
              <a:t>12/03/2026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022321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C9EA1182-88C4-47C8-A7E1-E417A068045C}" type="datetimeFigureOut">
              <a:rPr lang="en-GB" smtClean="0"/>
              <a:t>12/03/2026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851114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C9EA1182-88C4-47C8-A7E1-E417A068045C}" type="datetimeFigureOut">
              <a:rPr lang="en-GB" smtClean="0"/>
              <a:t>12/03/2026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121069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202632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76429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82000"/>
                  </a:schemeClr>
                </a:solidFill>
              </a:defRPr>
            </a:lvl1pPr>
          </a:lstStyle>
          <a:p>
            <a:fld id="{C9EA1182-88C4-47C8-A7E1-E417A068045C}" type="datetimeFigureOut">
              <a:rPr lang="en-GB" smtClean="0"/>
              <a:t>12/03/2026</a:t>
            </a:fld>
            <a:endParaRPr lang="en-GB"/>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82000"/>
                  </a:schemeClr>
                </a:solidFill>
              </a:defRPr>
            </a:lvl1pPr>
          </a:lstStyle>
          <a:p>
            <a:fld id="{F449A0BF-0FEA-4337-9540-FC47AE8EBF52}" type="slidenum">
              <a:rPr lang="en-GB" smtClean="0"/>
              <a:t>‹#›</a:t>
            </a:fld>
            <a:endParaRPr lang="en-GB"/>
          </a:p>
        </p:txBody>
      </p:sp>
    </p:spTree>
    <p:extLst>
      <p:ext uri="{BB962C8B-B14F-4D97-AF65-F5344CB8AC3E}">
        <p14:creationId xmlns:p14="http://schemas.microsoft.com/office/powerpoint/2010/main" val="40331493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9pPr>
    </p:bodyStyle>
    <p:otherStyle>
      <a:defPPr>
        <a:defRPr lang="en-US"/>
      </a:defPPr>
      <a:lvl1pPr marL="0" algn="l" defTabSz="1425550" rtl="0" eaLnBrk="1" latinLnBrk="0" hangingPunct="1">
        <a:defRPr sz="2806" kern="1200">
          <a:solidFill>
            <a:schemeClr val="tx1"/>
          </a:solidFill>
          <a:latin typeface="+mn-lt"/>
          <a:ea typeface="+mn-ea"/>
          <a:cs typeface="+mn-cs"/>
        </a:defRPr>
      </a:lvl1pPr>
      <a:lvl2pPr marL="712775" algn="l" defTabSz="1425550" rtl="0" eaLnBrk="1" latinLnBrk="0" hangingPunct="1">
        <a:defRPr sz="2806" kern="1200">
          <a:solidFill>
            <a:schemeClr val="tx1"/>
          </a:solidFill>
          <a:latin typeface="+mn-lt"/>
          <a:ea typeface="+mn-ea"/>
          <a:cs typeface="+mn-cs"/>
        </a:defRPr>
      </a:lvl2pPr>
      <a:lvl3pPr marL="1425550" algn="l" defTabSz="1425550" rtl="0" eaLnBrk="1" latinLnBrk="0" hangingPunct="1">
        <a:defRPr sz="2806" kern="1200">
          <a:solidFill>
            <a:schemeClr val="tx1"/>
          </a:solidFill>
          <a:latin typeface="+mn-lt"/>
          <a:ea typeface="+mn-ea"/>
          <a:cs typeface="+mn-cs"/>
        </a:defRPr>
      </a:lvl3pPr>
      <a:lvl4pPr marL="2138324" algn="l" defTabSz="1425550" rtl="0" eaLnBrk="1" latinLnBrk="0" hangingPunct="1">
        <a:defRPr sz="2806" kern="1200">
          <a:solidFill>
            <a:schemeClr val="tx1"/>
          </a:solidFill>
          <a:latin typeface="+mn-lt"/>
          <a:ea typeface="+mn-ea"/>
          <a:cs typeface="+mn-cs"/>
        </a:defRPr>
      </a:lvl4pPr>
      <a:lvl5pPr marL="2851099" algn="l" defTabSz="1425550" rtl="0" eaLnBrk="1" latinLnBrk="0" hangingPunct="1">
        <a:defRPr sz="2806" kern="1200">
          <a:solidFill>
            <a:schemeClr val="tx1"/>
          </a:solidFill>
          <a:latin typeface="+mn-lt"/>
          <a:ea typeface="+mn-ea"/>
          <a:cs typeface="+mn-cs"/>
        </a:defRPr>
      </a:lvl5pPr>
      <a:lvl6pPr marL="3563874" algn="l" defTabSz="1425550" rtl="0" eaLnBrk="1" latinLnBrk="0" hangingPunct="1">
        <a:defRPr sz="2806" kern="1200">
          <a:solidFill>
            <a:schemeClr val="tx1"/>
          </a:solidFill>
          <a:latin typeface="+mn-lt"/>
          <a:ea typeface="+mn-ea"/>
          <a:cs typeface="+mn-cs"/>
        </a:defRPr>
      </a:lvl6pPr>
      <a:lvl7pPr marL="4276649" algn="l" defTabSz="1425550" rtl="0" eaLnBrk="1" latinLnBrk="0" hangingPunct="1">
        <a:defRPr sz="2806" kern="1200">
          <a:solidFill>
            <a:schemeClr val="tx1"/>
          </a:solidFill>
          <a:latin typeface="+mn-lt"/>
          <a:ea typeface="+mn-ea"/>
          <a:cs typeface="+mn-cs"/>
        </a:defRPr>
      </a:lvl7pPr>
      <a:lvl8pPr marL="4989424" algn="l" defTabSz="1425550" rtl="0" eaLnBrk="1" latinLnBrk="0" hangingPunct="1">
        <a:defRPr sz="2806" kern="1200">
          <a:solidFill>
            <a:schemeClr val="tx1"/>
          </a:solidFill>
          <a:latin typeface="+mn-lt"/>
          <a:ea typeface="+mn-ea"/>
          <a:cs typeface="+mn-cs"/>
        </a:defRPr>
      </a:lvl8pPr>
      <a:lvl9pPr marL="5702198" algn="l" defTabSz="1425550" rtl="0" eaLnBrk="1" latinLnBrk="0" hangingPunct="1">
        <a:defRPr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A1D5AF-C07E-31FE-38AB-6F1807A34511}"/>
              </a:ext>
            </a:extLst>
          </p:cNvPr>
          <p:cNvPicPr>
            <a:picLocks noChangeAspect="1"/>
          </p:cNvPicPr>
          <p:nvPr/>
        </p:nvPicPr>
        <p:blipFill>
          <a:blip r:embed="rId2"/>
          <a:srcRect l="7025" t="20577" r="12511" b="33523"/>
          <a:stretch>
            <a:fillRect/>
          </a:stretch>
        </p:blipFill>
        <p:spPr>
          <a:xfrm>
            <a:off x="446526" y="10096500"/>
            <a:ext cx="4361335" cy="595313"/>
          </a:xfrm>
          <a:prstGeom prst="rect">
            <a:avLst/>
          </a:prstGeom>
        </p:spPr>
      </p:pic>
      <p:pic>
        <p:nvPicPr>
          <p:cNvPr id="185" name="Picture 184">
            <a:extLst>
              <a:ext uri="{FF2B5EF4-FFF2-40B4-BE49-F238E27FC236}">
                <a16:creationId xmlns:a16="http://schemas.microsoft.com/office/drawing/2014/main" id="{E8460734-C34F-7C8E-0974-B87BF0615870}"/>
              </a:ext>
            </a:extLst>
          </p:cNvPr>
          <p:cNvPicPr>
            <a:picLocks noChangeAspect="1"/>
          </p:cNvPicPr>
          <p:nvPr/>
        </p:nvPicPr>
        <p:blipFill>
          <a:blip r:embed="rId3"/>
          <a:srcRect l="24252" t="10959" r="12712" b="14102"/>
          <a:stretch>
            <a:fillRect/>
          </a:stretch>
        </p:blipFill>
        <p:spPr>
          <a:xfrm>
            <a:off x="4936811" y="7690990"/>
            <a:ext cx="4361333" cy="2916487"/>
          </a:xfrm>
          <a:prstGeom prst="rect">
            <a:avLst/>
          </a:prstGeom>
        </p:spPr>
      </p:pic>
      <p:pic>
        <p:nvPicPr>
          <p:cNvPr id="12" name="Picture 11" descr="A diagram of a circuit board&#10;&#10;AI-generated content may be incorrect.">
            <a:extLst>
              <a:ext uri="{FF2B5EF4-FFF2-40B4-BE49-F238E27FC236}">
                <a16:creationId xmlns:a16="http://schemas.microsoft.com/office/drawing/2014/main" id="{AD6792F3-0C50-3E7F-0DB1-07092262A550}"/>
              </a:ext>
            </a:extLst>
          </p:cNvPr>
          <p:cNvPicPr>
            <a:picLocks noChangeAspect="1"/>
          </p:cNvPicPr>
          <p:nvPr/>
        </p:nvPicPr>
        <p:blipFill>
          <a:blip r:embed="rId4"/>
          <a:stretch>
            <a:fillRect/>
          </a:stretch>
        </p:blipFill>
        <p:spPr>
          <a:xfrm>
            <a:off x="5425858" y="3696236"/>
            <a:ext cx="2997856" cy="3909646"/>
          </a:xfrm>
          <a:prstGeom prst="rect">
            <a:avLst/>
          </a:prstGeom>
        </p:spPr>
      </p:pic>
      <p:sp>
        <p:nvSpPr>
          <p:cNvPr id="124" name="Rectangle 123">
            <a:extLst>
              <a:ext uri="{FF2B5EF4-FFF2-40B4-BE49-F238E27FC236}">
                <a16:creationId xmlns:a16="http://schemas.microsoft.com/office/drawing/2014/main" id="{FF9CC2C3-A260-DE8E-3E8A-07AE5CA3B5AE}"/>
              </a:ext>
            </a:extLst>
          </p:cNvPr>
          <p:cNvSpPr/>
          <p:nvPr/>
        </p:nvSpPr>
        <p:spPr>
          <a:xfrm>
            <a:off x="8767809" y="4421363"/>
            <a:ext cx="6215062" cy="1416674"/>
          </a:xfrm>
          <a:prstGeom prst="rect">
            <a:avLst/>
          </a:prstGeom>
          <a:noFill/>
          <a:ln w="12700">
            <a:solidFill>
              <a:srgbClr val="C9D1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5" name="Rectangle 4">
            <a:extLst>
              <a:ext uri="{FF2B5EF4-FFF2-40B4-BE49-F238E27FC236}">
                <a16:creationId xmlns:a16="http://schemas.microsoft.com/office/drawing/2014/main" id="{0DE271E2-632B-96CD-3739-20983DCA9EA8}"/>
              </a:ext>
            </a:extLst>
          </p:cNvPr>
          <p:cNvSpPr/>
          <p:nvPr/>
        </p:nvSpPr>
        <p:spPr>
          <a:xfrm rot="10800000">
            <a:off x="0" y="0"/>
            <a:ext cx="15119350" cy="962022"/>
          </a:xfrm>
          <a:prstGeom prst="rect">
            <a:avLst/>
          </a:prstGeom>
          <a:solidFill>
            <a:srgbClr val="C9D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0DBD6D4-0E81-D98F-88C0-80DA265848A1}"/>
              </a:ext>
            </a:extLst>
          </p:cNvPr>
          <p:cNvSpPr>
            <a:spLocks noGrp="1"/>
          </p:cNvSpPr>
          <p:nvPr>
            <p:ph type="ctrTitle"/>
          </p:nvPr>
        </p:nvSpPr>
        <p:spPr>
          <a:xfrm>
            <a:off x="136479" y="0"/>
            <a:ext cx="10212207" cy="962025"/>
          </a:xfrm>
        </p:spPr>
        <p:txBody>
          <a:bodyPr anchor="ctr">
            <a:noAutofit/>
          </a:bodyPr>
          <a:lstStyle/>
          <a:p>
            <a:pPr algn="l"/>
            <a:r>
              <a:rPr lang="en-GB" sz="4000" dirty="0">
                <a:solidFill>
                  <a:schemeClr val="bg2">
                    <a:lumMod val="25000"/>
                  </a:schemeClr>
                </a:solidFill>
                <a:latin typeface="Segoe UI" panose="020B0502040204020203" pitchFamily="34" charset="0"/>
                <a:cs typeface="Segoe UI" panose="020B0502040204020203" pitchFamily="34" charset="0"/>
              </a:rPr>
              <a:t>Regulated Irrigation System (RIS)</a:t>
            </a:r>
          </a:p>
        </p:txBody>
      </p:sp>
      <p:sp>
        <p:nvSpPr>
          <p:cNvPr id="9" name="TextBox 8">
            <a:extLst>
              <a:ext uri="{FF2B5EF4-FFF2-40B4-BE49-F238E27FC236}">
                <a16:creationId xmlns:a16="http://schemas.microsoft.com/office/drawing/2014/main" id="{6F5DEC9D-E1B5-D725-C46E-118EE618584B}"/>
              </a:ext>
            </a:extLst>
          </p:cNvPr>
          <p:cNvSpPr txBox="1"/>
          <p:nvPr/>
        </p:nvSpPr>
        <p:spPr>
          <a:xfrm>
            <a:off x="136479" y="115093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What is it?</a:t>
            </a:r>
          </a:p>
        </p:txBody>
      </p:sp>
      <p:cxnSp>
        <p:nvCxnSpPr>
          <p:cNvPr id="14" name="Straight Connector 13">
            <a:extLst>
              <a:ext uri="{FF2B5EF4-FFF2-40B4-BE49-F238E27FC236}">
                <a16:creationId xmlns:a16="http://schemas.microsoft.com/office/drawing/2014/main" id="{39AA5C03-1DB8-2085-5C76-68AB01DFDA6A}"/>
              </a:ext>
            </a:extLst>
          </p:cNvPr>
          <p:cNvCxnSpPr>
            <a:cxnSpLocks/>
          </p:cNvCxnSpPr>
          <p:nvPr/>
        </p:nvCxnSpPr>
        <p:spPr>
          <a:xfrm>
            <a:off x="136479" y="161260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CB672EB-453B-1A1C-7A7B-1BFA5E998E5A}"/>
              </a:ext>
            </a:extLst>
          </p:cNvPr>
          <p:cNvSpPr txBox="1"/>
          <p:nvPr/>
        </p:nvSpPr>
        <p:spPr>
          <a:xfrm>
            <a:off x="136479" y="1801514"/>
            <a:ext cx="4858602" cy="3985706"/>
          </a:xfrm>
          <a:prstGeom prst="rect">
            <a:avLst/>
          </a:prstGeom>
          <a:noFill/>
        </p:spPr>
        <p:txBody>
          <a:bodyPr wrap="square" rtlCol="0">
            <a:spAutoFit/>
          </a:bodyPr>
          <a:lstStyle/>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project is all about watering plants in any scenario possible like in a small greenhouse or across an entire farm while being reliable, able to continue working across a whole year through all the seasons.</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idea for this project came from my Dad’s greenhouse which when we went on holiday was a struggle as no one could water the plants inside it.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There are many existing products for this issue already, but they are either too expensive for no reason due to being sold to businesses or are too simple and not reliable enough, so I thought I’ll make my own.</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all led me to my Design Brief I created:</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Water Plants (Water Conservation).</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Any Environment and Scale (Greenhouse / Farm).</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Reliable (Works for Months / Years).</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Sustainable (Self Sufficient: Solar / Rain).</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Relatively Affordable (&lt; ~£100).</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A significant portion of this project has been research based as I have been ensuring it can fit my strict design brief with the main consideration being “Any Environment and Scale” because it increases the possible use cases to fit as many users needs as possible.</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I am still currently developing this project and iterating over each area of the design outlined here (titles) over time getting closer to the final design that I will then produce and test as a prototype finally then producing it again as a final product (one-off for now).</a:t>
            </a:r>
          </a:p>
        </p:txBody>
      </p:sp>
      <p:sp>
        <p:nvSpPr>
          <p:cNvPr id="23" name="TextBox 22">
            <a:extLst>
              <a:ext uri="{FF2B5EF4-FFF2-40B4-BE49-F238E27FC236}">
                <a16:creationId xmlns:a16="http://schemas.microsoft.com/office/drawing/2014/main" id="{1CBB57B0-4959-1814-90D9-C936FFEAFDBB}"/>
              </a:ext>
            </a:extLst>
          </p:cNvPr>
          <p:cNvSpPr txBox="1"/>
          <p:nvPr/>
        </p:nvSpPr>
        <p:spPr>
          <a:xfrm>
            <a:off x="13306566" y="296345"/>
            <a:ext cx="1676305" cy="369332"/>
          </a:xfrm>
          <a:prstGeom prst="rect">
            <a:avLst/>
          </a:prstGeom>
          <a:noFill/>
        </p:spPr>
        <p:txBody>
          <a:bodyPr wrap="square" rtlCol="0" anchor="ctr">
            <a:spAutoFit/>
          </a:bodyPr>
          <a:lstStyle/>
          <a:p>
            <a:pPr algn="r"/>
            <a:r>
              <a:rPr lang="en-GB" dirty="0">
                <a:latin typeface="Segoe UI" panose="020B0502040204020203" pitchFamily="34" charset="0"/>
                <a:cs typeface="Segoe UI" panose="020B0502040204020203" pitchFamily="34" charset="0"/>
              </a:rPr>
              <a:t>by Sam Dixon</a:t>
            </a:r>
          </a:p>
        </p:txBody>
      </p:sp>
      <p:sp>
        <p:nvSpPr>
          <p:cNvPr id="24" name="TextBox 23">
            <a:extLst>
              <a:ext uri="{FF2B5EF4-FFF2-40B4-BE49-F238E27FC236}">
                <a16:creationId xmlns:a16="http://schemas.microsoft.com/office/drawing/2014/main" id="{129FA21F-5EB0-098B-B5D0-3C267DA202A1}"/>
              </a:ext>
            </a:extLst>
          </p:cNvPr>
          <p:cNvSpPr txBox="1"/>
          <p:nvPr/>
        </p:nvSpPr>
        <p:spPr>
          <a:xfrm>
            <a:off x="9786759" y="115093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Circuit - Electronic Engineering</a:t>
            </a:r>
          </a:p>
        </p:txBody>
      </p:sp>
      <p:cxnSp>
        <p:nvCxnSpPr>
          <p:cNvPr id="25" name="Straight Connector 24">
            <a:extLst>
              <a:ext uri="{FF2B5EF4-FFF2-40B4-BE49-F238E27FC236}">
                <a16:creationId xmlns:a16="http://schemas.microsoft.com/office/drawing/2014/main" id="{9A83DA1F-FE48-2D0E-776B-D162E8E249A9}"/>
              </a:ext>
            </a:extLst>
          </p:cNvPr>
          <p:cNvCxnSpPr>
            <a:cxnSpLocks/>
          </p:cNvCxnSpPr>
          <p:nvPr/>
        </p:nvCxnSpPr>
        <p:spPr>
          <a:xfrm>
            <a:off x="9786759" y="161260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B2DAC26-2524-2FD3-3100-A3ECDC206E9D}"/>
              </a:ext>
            </a:extLst>
          </p:cNvPr>
          <p:cNvSpPr txBox="1"/>
          <p:nvPr/>
        </p:nvSpPr>
        <p:spPr>
          <a:xfrm>
            <a:off x="9786759" y="1801514"/>
            <a:ext cx="4858602" cy="2462213"/>
          </a:xfrm>
          <a:prstGeom prst="rect">
            <a:avLst/>
          </a:prstGeom>
          <a:noFill/>
        </p:spPr>
        <p:txBody>
          <a:bodyPr wrap="square" rtlCol="0">
            <a:spAutoFit/>
          </a:bodyPr>
          <a:lstStyle/>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There will be a circuit in the command and switch modules which I will organise onto 2 custom PCBs that I will get produced by JLCPCB as it is very cheap and scalable for batch production which I may consider if made into a product.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Command Module which controls the entire system regulating all the valves and pumps at certain times contains: the microcontroller (ESP32), a temperature sensor, Wi-Fi switch, status LED and power management (battery, solar).</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Switch Module has multiple ports to turn on the valves and pumps bridging the gap between them and the command module containing: a shift register (74HC595) that will control relays (SRD-03VDC-SL-C) for each port.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Each module will communicate using connectors (JST-PH) for power or data.</a:t>
            </a:r>
          </a:p>
        </p:txBody>
      </p:sp>
      <p:sp>
        <p:nvSpPr>
          <p:cNvPr id="30" name="TextBox 29">
            <a:extLst>
              <a:ext uri="{FF2B5EF4-FFF2-40B4-BE49-F238E27FC236}">
                <a16:creationId xmlns:a16="http://schemas.microsoft.com/office/drawing/2014/main" id="{C349E672-A40D-691A-2583-941098F6AEE2}"/>
              </a:ext>
            </a:extLst>
          </p:cNvPr>
          <p:cNvSpPr txBox="1"/>
          <p:nvPr/>
        </p:nvSpPr>
        <p:spPr>
          <a:xfrm>
            <a:off x="9786757" y="5964981"/>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Regulation - Software Engineering</a:t>
            </a:r>
          </a:p>
        </p:txBody>
      </p:sp>
      <p:cxnSp>
        <p:nvCxnSpPr>
          <p:cNvPr id="31" name="Straight Connector 30">
            <a:extLst>
              <a:ext uri="{FF2B5EF4-FFF2-40B4-BE49-F238E27FC236}">
                <a16:creationId xmlns:a16="http://schemas.microsoft.com/office/drawing/2014/main" id="{B12A5328-50E9-3C4C-5B86-0C3E6A37B6CE}"/>
              </a:ext>
            </a:extLst>
          </p:cNvPr>
          <p:cNvCxnSpPr>
            <a:cxnSpLocks/>
          </p:cNvCxnSpPr>
          <p:nvPr/>
        </p:nvCxnSpPr>
        <p:spPr>
          <a:xfrm>
            <a:off x="9786757" y="6426646"/>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5D1E7F6-109F-B638-6659-06B13D980F6A}"/>
              </a:ext>
            </a:extLst>
          </p:cNvPr>
          <p:cNvSpPr txBox="1"/>
          <p:nvPr/>
        </p:nvSpPr>
        <p:spPr>
          <a:xfrm>
            <a:off x="9786757" y="6615558"/>
            <a:ext cx="4858602" cy="3985706"/>
          </a:xfrm>
          <a:prstGeom prst="rect">
            <a:avLst/>
          </a:prstGeom>
          <a:noFill/>
        </p:spPr>
        <p:txBody>
          <a:bodyPr wrap="square" rtlCol="0">
            <a:spAutoFit/>
          </a:bodyPr>
          <a:lstStyle/>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microcontroller (ESP32) will control the entire system, regulating all the valves and pumps to ensure they turn on at the required times, with the program (C++ Code) running on it.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It creates a Wi-Fi Access Point Network with a Web Server as well that users can connect to even in the most remote locations to configure everything using the website interface (on a phone / laptop).</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Routines can then be created that will turn on certain switch ports (Pumps / Valves) at certain times (12:00 every day or month) for a certain duration (60s) to give full control allowing it to be used in any environment.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duration can change depending on the temperature sensor, for instance, if its hot (summer) then give plants more water (120s) or if its cold (winter) then give plants little to no water (0s) to allow it to function reliably all year-round while also being sustainable as it is only using the water it needs.</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ability to use only the water it needs to will allow it to conserve water used in times of shortage and still be able to function through hosepipe bans for instance that have happened recently in the UK.</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All this customisation is given through the simple website that anyone can use to alter the functionality for their personal needs.</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I believe this control for the user is very important as it really sets it apart from the alternatives which really lack any of this leading to the user being unsatisfied with their product which this solves.</a:t>
            </a:r>
          </a:p>
        </p:txBody>
      </p:sp>
      <p:sp>
        <p:nvSpPr>
          <p:cNvPr id="33" name="TextBox 32">
            <a:extLst>
              <a:ext uri="{FF2B5EF4-FFF2-40B4-BE49-F238E27FC236}">
                <a16:creationId xmlns:a16="http://schemas.microsoft.com/office/drawing/2014/main" id="{6BAEFB42-02B0-1FD4-47D5-CA3D1EED8B1A}"/>
              </a:ext>
            </a:extLst>
          </p:cNvPr>
          <p:cNvSpPr txBox="1"/>
          <p:nvPr/>
        </p:nvSpPr>
        <p:spPr>
          <a:xfrm>
            <a:off x="136005" y="5745298"/>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Model - Mechanical Engineering</a:t>
            </a:r>
          </a:p>
        </p:txBody>
      </p:sp>
      <p:cxnSp>
        <p:nvCxnSpPr>
          <p:cNvPr id="34" name="Straight Connector 33">
            <a:extLst>
              <a:ext uri="{FF2B5EF4-FFF2-40B4-BE49-F238E27FC236}">
                <a16:creationId xmlns:a16="http://schemas.microsoft.com/office/drawing/2014/main" id="{F07D2521-3CBD-11A4-97E1-211AD454A31D}"/>
              </a:ext>
            </a:extLst>
          </p:cNvPr>
          <p:cNvCxnSpPr>
            <a:cxnSpLocks/>
          </p:cNvCxnSpPr>
          <p:nvPr/>
        </p:nvCxnSpPr>
        <p:spPr>
          <a:xfrm>
            <a:off x="136005" y="6206963"/>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6078836-FD58-7A4B-F365-DD9233B6916D}"/>
              </a:ext>
            </a:extLst>
          </p:cNvPr>
          <p:cNvSpPr txBox="1"/>
          <p:nvPr/>
        </p:nvSpPr>
        <p:spPr>
          <a:xfrm>
            <a:off x="136005" y="6395875"/>
            <a:ext cx="4858602" cy="3816429"/>
          </a:xfrm>
          <a:prstGeom prst="rect">
            <a:avLst/>
          </a:prstGeom>
          <a:noFill/>
        </p:spPr>
        <p:txBody>
          <a:bodyPr wrap="square" rtlCol="0">
            <a:spAutoFit/>
          </a:bodyPr>
          <a:lstStyle/>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design is built up of multiple modules to allow it to be scaled up from just a couple plants to hundreds with each being a 3D printed (due to it being more cost effective) case that slide into each other on the sides.</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Command Module will be the same across all implementations of the product containing the microcontroller (ESP32) for the regulation and a battery with a solar panel on top.</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Valve Modules contain many slots for electromechanical valves (Solenoid) that can send off water to different areas or types of plants that may want different amount of water.</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Pumps are external parts of the design that may have module enclosers in the future to protect them while they pump the water to the valves and then plants when needed.</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Switch Modules control relays for ports to the valves or pumps when needed and can be chained together due to the shift registers inside to allow as many valves and pumps as possible to be added for the required scale.</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An example of an application of this project would be in a greenhouse where the plants on one side need to get more water (due to sunlight) that the other so could be on a different valve port meaning one side has it open for longer than the other allowing full control for the user over their plants or crops (same principle could be applied to a farm).</a:t>
            </a:r>
          </a:p>
        </p:txBody>
      </p:sp>
      <p:sp>
        <p:nvSpPr>
          <p:cNvPr id="42" name="Rectangle: Diagonal Corners Snipped 41">
            <a:extLst>
              <a:ext uri="{FF2B5EF4-FFF2-40B4-BE49-F238E27FC236}">
                <a16:creationId xmlns:a16="http://schemas.microsoft.com/office/drawing/2014/main" id="{0C9C18DE-7A24-DB4F-A253-31C46FF9862C}"/>
              </a:ext>
            </a:extLst>
          </p:cNvPr>
          <p:cNvSpPr/>
          <p:nvPr/>
        </p:nvSpPr>
        <p:spPr>
          <a:xfrm>
            <a:off x="8808073" y="4464114"/>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Temp Sensor</a:t>
            </a:r>
          </a:p>
        </p:txBody>
      </p:sp>
      <p:sp>
        <p:nvSpPr>
          <p:cNvPr id="43" name="Rectangle: Diagonal Corners Snipped 42">
            <a:extLst>
              <a:ext uri="{FF2B5EF4-FFF2-40B4-BE49-F238E27FC236}">
                <a16:creationId xmlns:a16="http://schemas.microsoft.com/office/drawing/2014/main" id="{76EA3DAA-CC90-F4FF-D08A-8E0F0DFC8B03}"/>
              </a:ext>
            </a:extLst>
          </p:cNvPr>
          <p:cNvSpPr/>
          <p:nvPr/>
        </p:nvSpPr>
        <p:spPr>
          <a:xfrm>
            <a:off x="8808074" y="4841513"/>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Wi-Fi Switch</a:t>
            </a:r>
          </a:p>
        </p:txBody>
      </p:sp>
      <p:sp>
        <p:nvSpPr>
          <p:cNvPr id="44" name="Rectangle: Diagonal Corners Snipped 43">
            <a:extLst>
              <a:ext uri="{FF2B5EF4-FFF2-40B4-BE49-F238E27FC236}">
                <a16:creationId xmlns:a16="http://schemas.microsoft.com/office/drawing/2014/main" id="{E38E45C1-8671-71AB-7F33-DAB3CA9F4CDA}"/>
              </a:ext>
            </a:extLst>
          </p:cNvPr>
          <p:cNvSpPr/>
          <p:nvPr/>
        </p:nvSpPr>
        <p:spPr>
          <a:xfrm>
            <a:off x="8808073" y="5218912"/>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Status LED </a:t>
            </a:r>
          </a:p>
        </p:txBody>
      </p:sp>
      <p:cxnSp>
        <p:nvCxnSpPr>
          <p:cNvPr id="46" name="Connector: Elbow 45">
            <a:extLst>
              <a:ext uri="{FF2B5EF4-FFF2-40B4-BE49-F238E27FC236}">
                <a16:creationId xmlns:a16="http://schemas.microsoft.com/office/drawing/2014/main" id="{F71A2CDC-4203-2D7E-ABA6-11AC1C00EC83}"/>
              </a:ext>
            </a:extLst>
          </p:cNvPr>
          <p:cNvCxnSpPr>
            <a:cxnSpLocks/>
            <a:stCxn id="42" idx="0"/>
            <a:endCxn id="71" idx="2"/>
          </p:cNvCxnSpPr>
          <p:nvPr/>
        </p:nvCxnSpPr>
        <p:spPr>
          <a:xfrm>
            <a:off x="9815300" y="4593511"/>
            <a:ext cx="375535" cy="179755"/>
          </a:xfrm>
          <a:prstGeom prst="bentConnector3">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5B403F87-F9E9-392C-201F-F6C30C2CC666}"/>
              </a:ext>
            </a:extLst>
          </p:cNvPr>
          <p:cNvCxnSpPr>
            <a:cxnSpLocks/>
            <a:stCxn id="43" idx="0"/>
            <a:endCxn id="71" idx="2"/>
          </p:cNvCxnSpPr>
          <p:nvPr/>
        </p:nvCxnSpPr>
        <p:spPr>
          <a:xfrm flipV="1">
            <a:off x="9815301" y="4773266"/>
            <a:ext cx="375534" cy="197644"/>
          </a:xfrm>
          <a:prstGeom prst="bentConnector3">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AA5DDEC0-B4B3-5426-6FB9-3C6A2F733DF9}"/>
              </a:ext>
            </a:extLst>
          </p:cNvPr>
          <p:cNvCxnSpPr>
            <a:cxnSpLocks/>
            <a:stCxn id="71" idx="1"/>
            <a:endCxn id="44" idx="0"/>
          </p:cNvCxnSpPr>
          <p:nvPr/>
        </p:nvCxnSpPr>
        <p:spPr>
          <a:xfrm rot="5400000">
            <a:off x="10071983" y="4725842"/>
            <a:ext cx="365785" cy="879149"/>
          </a:xfrm>
          <a:prstGeom prst="bentConnector2">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79B223C0-FEC3-72C2-1408-ECBA3CA34AFA}"/>
              </a:ext>
            </a:extLst>
          </p:cNvPr>
          <p:cNvCxnSpPr>
            <a:cxnSpLocks/>
          </p:cNvCxnSpPr>
          <p:nvPr/>
        </p:nvCxnSpPr>
        <p:spPr>
          <a:xfrm>
            <a:off x="11452223" y="4421423"/>
            <a:ext cx="474" cy="1416614"/>
          </a:xfrm>
          <a:prstGeom prst="line">
            <a:avLst/>
          </a:prstGeom>
          <a:ln w="18000">
            <a:solidFill>
              <a:srgbClr val="CBCBCB"/>
            </a:solidFill>
            <a:prstDash val="dash"/>
          </a:ln>
        </p:spPr>
        <p:style>
          <a:lnRef idx="1">
            <a:schemeClr val="accent1"/>
          </a:lnRef>
          <a:fillRef idx="0">
            <a:schemeClr val="accent1"/>
          </a:fillRef>
          <a:effectRef idx="0">
            <a:schemeClr val="accent1"/>
          </a:effectRef>
          <a:fontRef idx="minor">
            <a:schemeClr val="tx1"/>
          </a:fontRef>
        </p:style>
      </p:cxnSp>
      <p:sp>
        <p:nvSpPr>
          <p:cNvPr id="71" name="Rectangle: Diagonal Corners Snipped 70">
            <a:extLst>
              <a:ext uri="{FF2B5EF4-FFF2-40B4-BE49-F238E27FC236}">
                <a16:creationId xmlns:a16="http://schemas.microsoft.com/office/drawing/2014/main" id="{2440C2C9-2F23-6735-CF9E-3ACBB0090A7E}"/>
              </a:ext>
            </a:extLst>
          </p:cNvPr>
          <p:cNvSpPr/>
          <p:nvPr/>
        </p:nvSpPr>
        <p:spPr>
          <a:xfrm>
            <a:off x="10190835" y="4564007"/>
            <a:ext cx="1007227" cy="418517"/>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ESP32 (MC)</a:t>
            </a:r>
          </a:p>
        </p:txBody>
      </p:sp>
      <p:sp>
        <p:nvSpPr>
          <p:cNvPr id="74" name="Rectangle: Diagonal Corners Snipped 73">
            <a:extLst>
              <a:ext uri="{FF2B5EF4-FFF2-40B4-BE49-F238E27FC236}">
                <a16:creationId xmlns:a16="http://schemas.microsoft.com/office/drawing/2014/main" id="{64D20BCA-598A-3BD1-4F36-AAB90275D9D1}"/>
              </a:ext>
            </a:extLst>
          </p:cNvPr>
          <p:cNvSpPr/>
          <p:nvPr/>
        </p:nvSpPr>
        <p:spPr>
          <a:xfrm>
            <a:off x="11707332" y="4646322"/>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Shift Register</a:t>
            </a:r>
          </a:p>
        </p:txBody>
      </p:sp>
      <p:sp>
        <p:nvSpPr>
          <p:cNvPr id="75" name="Rectangle: Diagonal Corners Snipped 74">
            <a:extLst>
              <a:ext uri="{FF2B5EF4-FFF2-40B4-BE49-F238E27FC236}">
                <a16:creationId xmlns:a16="http://schemas.microsoft.com/office/drawing/2014/main" id="{F44E936C-E406-6AC9-74FE-675581907706}"/>
              </a:ext>
            </a:extLst>
          </p:cNvPr>
          <p:cNvSpPr/>
          <p:nvPr/>
        </p:nvSpPr>
        <p:spPr>
          <a:xfrm>
            <a:off x="13002632" y="4723731"/>
            <a:ext cx="707308"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Relay</a:t>
            </a:r>
          </a:p>
        </p:txBody>
      </p:sp>
      <p:sp>
        <p:nvSpPr>
          <p:cNvPr id="76" name="Rectangle: Diagonal Corners Snipped 75">
            <a:extLst>
              <a:ext uri="{FF2B5EF4-FFF2-40B4-BE49-F238E27FC236}">
                <a16:creationId xmlns:a16="http://schemas.microsoft.com/office/drawing/2014/main" id="{A39A9EFC-6F44-164C-CE64-BD0409D4E2B4}"/>
              </a:ext>
            </a:extLst>
          </p:cNvPr>
          <p:cNvSpPr/>
          <p:nvPr/>
        </p:nvSpPr>
        <p:spPr>
          <a:xfrm>
            <a:off x="12998876" y="5081420"/>
            <a:ext cx="707308"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Relay</a:t>
            </a:r>
          </a:p>
        </p:txBody>
      </p:sp>
      <p:sp>
        <p:nvSpPr>
          <p:cNvPr id="78" name="TextBox 77">
            <a:extLst>
              <a:ext uri="{FF2B5EF4-FFF2-40B4-BE49-F238E27FC236}">
                <a16:creationId xmlns:a16="http://schemas.microsoft.com/office/drawing/2014/main" id="{968A0FB1-580D-3331-A26E-36EB10650752}"/>
              </a:ext>
            </a:extLst>
          </p:cNvPr>
          <p:cNvSpPr txBox="1"/>
          <p:nvPr/>
        </p:nvSpPr>
        <p:spPr>
          <a:xfrm>
            <a:off x="13005701" y="5256460"/>
            <a:ext cx="707307" cy="276999"/>
          </a:xfrm>
          <a:prstGeom prst="rect">
            <a:avLst/>
          </a:prstGeom>
          <a:noFill/>
        </p:spPr>
        <p:txBody>
          <a:bodyPr wrap="square" rtlCol="0" anchor="t">
            <a:spAutoFit/>
          </a:bodyPr>
          <a:lstStyle/>
          <a:p>
            <a:pPr algn="ctr"/>
            <a:r>
              <a:rPr lang="en-GB" sz="1200" dirty="0">
                <a:latin typeface="Segoe UI" panose="020B0502040204020203" pitchFamily="34" charset="0"/>
                <a:cs typeface="Segoe UI" panose="020B0502040204020203" pitchFamily="34" charset="0"/>
              </a:rPr>
              <a:t>…</a:t>
            </a:r>
          </a:p>
        </p:txBody>
      </p:sp>
      <p:cxnSp>
        <p:nvCxnSpPr>
          <p:cNvPr id="81" name="Connector: Elbow 80">
            <a:extLst>
              <a:ext uri="{FF2B5EF4-FFF2-40B4-BE49-F238E27FC236}">
                <a16:creationId xmlns:a16="http://schemas.microsoft.com/office/drawing/2014/main" id="{6C9C5D28-9E9D-9008-B5AF-77E294536C79}"/>
              </a:ext>
            </a:extLst>
          </p:cNvPr>
          <p:cNvCxnSpPr>
            <a:cxnSpLocks/>
            <a:stCxn id="74" idx="0"/>
            <a:endCxn id="75" idx="2"/>
          </p:cNvCxnSpPr>
          <p:nvPr/>
        </p:nvCxnSpPr>
        <p:spPr>
          <a:xfrm>
            <a:off x="12714559" y="4775719"/>
            <a:ext cx="288073" cy="77409"/>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Connector: Elbow 83">
            <a:extLst>
              <a:ext uri="{FF2B5EF4-FFF2-40B4-BE49-F238E27FC236}">
                <a16:creationId xmlns:a16="http://schemas.microsoft.com/office/drawing/2014/main" id="{23695738-94BF-4C43-3025-927582618AA5}"/>
              </a:ext>
            </a:extLst>
          </p:cNvPr>
          <p:cNvCxnSpPr>
            <a:cxnSpLocks/>
            <a:stCxn id="74" idx="0"/>
            <a:endCxn id="76" idx="2"/>
          </p:cNvCxnSpPr>
          <p:nvPr/>
        </p:nvCxnSpPr>
        <p:spPr>
          <a:xfrm>
            <a:off x="12714559" y="4775719"/>
            <a:ext cx="284317" cy="435098"/>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9265AD32-E5DF-288C-B3D9-A040695E4F7C}"/>
              </a:ext>
            </a:extLst>
          </p:cNvPr>
          <p:cNvCxnSpPr>
            <a:cxnSpLocks/>
          </p:cNvCxnSpPr>
          <p:nvPr/>
        </p:nvCxnSpPr>
        <p:spPr>
          <a:xfrm>
            <a:off x="13966823" y="4421363"/>
            <a:ext cx="0" cy="1416674"/>
          </a:xfrm>
          <a:prstGeom prst="line">
            <a:avLst/>
          </a:prstGeom>
          <a:ln w="18000">
            <a:solidFill>
              <a:srgbClr val="CBCBCB"/>
            </a:solidFill>
            <a:prstDash val="dash"/>
          </a:ln>
        </p:spPr>
        <p:style>
          <a:lnRef idx="1">
            <a:schemeClr val="accent1"/>
          </a:lnRef>
          <a:fillRef idx="0">
            <a:schemeClr val="accent1"/>
          </a:fillRef>
          <a:effectRef idx="0">
            <a:schemeClr val="accent1"/>
          </a:effectRef>
          <a:fontRef idx="minor">
            <a:schemeClr val="tx1"/>
          </a:fontRef>
        </p:style>
      </p:cxnSp>
      <p:sp>
        <p:nvSpPr>
          <p:cNvPr id="90" name="Rectangle: Diagonal Corners Snipped 89">
            <a:extLst>
              <a:ext uri="{FF2B5EF4-FFF2-40B4-BE49-F238E27FC236}">
                <a16:creationId xmlns:a16="http://schemas.microsoft.com/office/drawing/2014/main" id="{7B39DBD5-263A-B54A-0AFC-EE5C9DA42F74}"/>
              </a:ext>
            </a:extLst>
          </p:cNvPr>
          <p:cNvSpPr/>
          <p:nvPr/>
        </p:nvSpPr>
        <p:spPr>
          <a:xfrm>
            <a:off x="14223707" y="4814423"/>
            <a:ext cx="707308"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Valve</a:t>
            </a:r>
          </a:p>
        </p:txBody>
      </p:sp>
      <p:sp>
        <p:nvSpPr>
          <p:cNvPr id="91" name="Rectangle: Diagonal Corners Snipped 90">
            <a:extLst>
              <a:ext uri="{FF2B5EF4-FFF2-40B4-BE49-F238E27FC236}">
                <a16:creationId xmlns:a16="http://schemas.microsoft.com/office/drawing/2014/main" id="{3AC2D900-A681-FAB3-F753-2FFA763B0CBA}"/>
              </a:ext>
            </a:extLst>
          </p:cNvPr>
          <p:cNvSpPr/>
          <p:nvPr/>
        </p:nvSpPr>
        <p:spPr>
          <a:xfrm>
            <a:off x="14223707" y="5167456"/>
            <a:ext cx="707308"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Pump</a:t>
            </a:r>
          </a:p>
        </p:txBody>
      </p:sp>
      <p:sp>
        <p:nvSpPr>
          <p:cNvPr id="92" name="TextBox 91">
            <a:extLst>
              <a:ext uri="{FF2B5EF4-FFF2-40B4-BE49-F238E27FC236}">
                <a16:creationId xmlns:a16="http://schemas.microsoft.com/office/drawing/2014/main" id="{AA38F89A-3C42-978F-DB81-B8412705A4C3}"/>
              </a:ext>
            </a:extLst>
          </p:cNvPr>
          <p:cNvSpPr txBox="1"/>
          <p:nvPr/>
        </p:nvSpPr>
        <p:spPr>
          <a:xfrm>
            <a:off x="14220639" y="5347264"/>
            <a:ext cx="707307" cy="276999"/>
          </a:xfrm>
          <a:prstGeom prst="rect">
            <a:avLst/>
          </a:prstGeom>
          <a:noFill/>
        </p:spPr>
        <p:txBody>
          <a:bodyPr wrap="square" rtlCol="0" anchor="t">
            <a:spAutoFit/>
          </a:bodyPr>
          <a:lstStyle/>
          <a:p>
            <a:pPr algn="ctr"/>
            <a:r>
              <a:rPr lang="en-GB" sz="1200" dirty="0">
                <a:latin typeface="Segoe UI" panose="020B0502040204020203" pitchFamily="34" charset="0"/>
                <a:cs typeface="Segoe UI" panose="020B0502040204020203" pitchFamily="34" charset="0"/>
              </a:rPr>
              <a:t>…</a:t>
            </a:r>
          </a:p>
        </p:txBody>
      </p:sp>
      <p:cxnSp>
        <p:nvCxnSpPr>
          <p:cNvPr id="93" name="Connector: Elbow 92">
            <a:extLst>
              <a:ext uri="{FF2B5EF4-FFF2-40B4-BE49-F238E27FC236}">
                <a16:creationId xmlns:a16="http://schemas.microsoft.com/office/drawing/2014/main" id="{4AED7251-9C0F-1AA4-F858-308130F2102C}"/>
              </a:ext>
            </a:extLst>
          </p:cNvPr>
          <p:cNvCxnSpPr>
            <a:cxnSpLocks/>
            <a:stCxn id="75" idx="0"/>
            <a:endCxn id="90" idx="2"/>
          </p:cNvCxnSpPr>
          <p:nvPr/>
        </p:nvCxnSpPr>
        <p:spPr>
          <a:xfrm>
            <a:off x="13709940" y="4853128"/>
            <a:ext cx="513767" cy="90692"/>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6" name="Connector: Elbow 95">
            <a:extLst>
              <a:ext uri="{FF2B5EF4-FFF2-40B4-BE49-F238E27FC236}">
                <a16:creationId xmlns:a16="http://schemas.microsoft.com/office/drawing/2014/main" id="{947F7C96-8D90-2618-9334-A6AC53D05C54}"/>
              </a:ext>
            </a:extLst>
          </p:cNvPr>
          <p:cNvCxnSpPr>
            <a:cxnSpLocks/>
            <a:stCxn id="76" idx="0"/>
            <a:endCxn id="91" idx="2"/>
          </p:cNvCxnSpPr>
          <p:nvPr/>
        </p:nvCxnSpPr>
        <p:spPr>
          <a:xfrm>
            <a:off x="13706184" y="5210817"/>
            <a:ext cx="517523" cy="86036"/>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4" name="Rectangle: Diagonal Corners Snipped 113">
            <a:extLst>
              <a:ext uri="{FF2B5EF4-FFF2-40B4-BE49-F238E27FC236}">
                <a16:creationId xmlns:a16="http://schemas.microsoft.com/office/drawing/2014/main" id="{17DA5A23-0F57-6574-C29D-50891D58AF87}"/>
              </a:ext>
            </a:extLst>
          </p:cNvPr>
          <p:cNvSpPr/>
          <p:nvPr/>
        </p:nvSpPr>
        <p:spPr>
          <a:xfrm>
            <a:off x="11596379" y="5321493"/>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Shift Register</a:t>
            </a:r>
          </a:p>
        </p:txBody>
      </p:sp>
      <p:cxnSp>
        <p:nvCxnSpPr>
          <p:cNvPr id="115" name="Connector: Elbow 114">
            <a:extLst>
              <a:ext uri="{FF2B5EF4-FFF2-40B4-BE49-F238E27FC236}">
                <a16:creationId xmlns:a16="http://schemas.microsoft.com/office/drawing/2014/main" id="{2648F29E-2267-A9CE-459D-1A2C895B53D5}"/>
              </a:ext>
            </a:extLst>
          </p:cNvPr>
          <p:cNvCxnSpPr>
            <a:cxnSpLocks/>
            <a:stCxn id="74" idx="1"/>
            <a:endCxn id="114" idx="3"/>
          </p:cNvCxnSpPr>
          <p:nvPr/>
        </p:nvCxnSpPr>
        <p:spPr>
          <a:xfrm rot="5400000">
            <a:off x="11947282" y="5057828"/>
            <a:ext cx="416377" cy="110953"/>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5A12A2D6-0EF5-108D-EBE9-471CBA0E6CCE}"/>
              </a:ext>
            </a:extLst>
          </p:cNvPr>
          <p:cNvSpPr txBox="1"/>
          <p:nvPr/>
        </p:nvSpPr>
        <p:spPr>
          <a:xfrm>
            <a:off x="11599450" y="5516994"/>
            <a:ext cx="1007223" cy="276999"/>
          </a:xfrm>
          <a:prstGeom prst="rect">
            <a:avLst/>
          </a:prstGeom>
          <a:noFill/>
        </p:spPr>
        <p:txBody>
          <a:bodyPr wrap="square" rtlCol="0" anchor="t">
            <a:spAutoFit/>
          </a:bodyPr>
          <a:lstStyle/>
          <a:p>
            <a:pPr algn="ctr"/>
            <a:r>
              <a:rPr lang="en-GB" sz="1200" dirty="0">
                <a:latin typeface="Segoe UI" panose="020B0502040204020203" pitchFamily="34" charset="0"/>
                <a:cs typeface="Segoe UI" panose="020B0502040204020203" pitchFamily="34" charset="0"/>
              </a:rPr>
              <a:t>…</a:t>
            </a:r>
          </a:p>
        </p:txBody>
      </p:sp>
      <p:cxnSp>
        <p:nvCxnSpPr>
          <p:cNvPr id="137" name="Straight Arrow Connector 136">
            <a:extLst>
              <a:ext uri="{FF2B5EF4-FFF2-40B4-BE49-F238E27FC236}">
                <a16:creationId xmlns:a16="http://schemas.microsoft.com/office/drawing/2014/main" id="{152C065C-C4A7-7356-FCBA-DCFB3CCD518C}"/>
              </a:ext>
            </a:extLst>
          </p:cNvPr>
          <p:cNvCxnSpPr>
            <a:cxnSpLocks/>
            <a:stCxn id="71" idx="0"/>
            <a:endCxn id="74" idx="2"/>
          </p:cNvCxnSpPr>
          <p:nvPr/>
        </p:nvCxnSpPr>
        <p:spPr>
          <a:xfrm>
            <a:off x="11198062" y="4773266"/>
            <a:ext cx="509270" cy="2453"/>
          </a:xfrm>
          <a:prstGeom prst="straightConnector1">
            <a:avLst/>
          </a:prstGeom>
          <a:ln w="63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86" name="TextBox 185">
            <a:extLst>
              <a:ext uri="{FF2B5EF4-FFF2-40B4-BE49-F238E27FC236}">
                <a16:creationId xmlns:a16="http://schemas.microsoft.com/office/drawing/2014/main" id="{24B580D5-EDE5-00EB-EB0E-E279E9B1F86A}"/>
              </a:ext>
            </a:extLst>
          </p:cNvPr>
          <p:cNvSpPr txBox="1"/>
          <p:nvPr/>
        </p:nvSpPr>
        <p:spPr>
          <a:xfrm rot="19798013">
            <a:off x="6235129" y="8692065"/>
            <a:ext cx="1877437" cy="338554"/>
          </a:xfrm>
          <a:prstGeom prst="rect">
            <a:avLst/>
          </a:prstGeom>
          <a:noFill/>
        </p:spPr>
        <p:txBody>
          <a:bodyPr wrap="none" rtlCol="0">
            <a:spAutoFit/>
          </a:bodyPr>
          <a:lstStyle/>
          <a:p>
            <a:r>
              <a:rPr lang="en-GB" sz="1600" dirty="0">
                <a:latin typeface="Segoe UI Light" panose="020B0502040204020203" pitchFamily="34" charset="0"/>
                <a:cs typeface="Segoe UI Light" panose="020B0502040204020203" pitchFamily="34" charset="0"/>
              </a:rPr>
              <a:t>Command Module</a:t>
            </a:r>
          </a:p>
        </p:txBody>
      </p:sp>
      <p:sp>
        <p:nvSpPr>
          <p:cNvPr id="187" name="TextBox 186">
            <a:extLst>
              <a:ext uri="{FF2B5EF4-FFF2-40B4-BE49-F238E27FC236}">
                <a16:creationId xmlns:a16="http://schemas.microsoft.com/office/drawing/2014/main" id="{7EF07108-3F76-8740-CEBF-0292BEFD6777}"/>
              </a:ext>
            </a:extLst>
          </p:cNvPr>
          <p:cNvSpPr txBox="1"/>
          <p:nvPr/>
        </p:nvSpPr>
        <p:spPr>
          <a:xfrm rot="19798013">
            <a:off x="7119974" y="9109633"/>
            <a:ext cx="1446230" cy="338554"/>
          </a:xfrm>
          <a:prstGeom prst="rect">
            <a:avLst/>
          </a:prstGeom>
          <a:noFill/>
        </p:spPr>
        <p:txBody>
          <a:bodyPr wrap="none" rtlCol="0">
            <a:spAutoFit/>
          </a:bodyPr>
          <a:lstStyle/>
          <a:p>
            <a:r>
              <a:rPr lang="en-GB" sz="1600" dirty="0">
                <a:latin typeface="Segoe UI Light" panose="020B0502040204020203" pitchFamily="34" charset="0"/>
                <a:cs typeface="Segoe UI Light" panose="020B0502040204020203" pitchFamily="34" charset="0"/>
              </a:rPr>
              <a:t>Switch Module</a:t>
            </a:r>
          </a:p>
        </p:txBody>
      </p:sp>
      <p:sp>
        <p:nvSpPr>
          <p:cNvPr id="188" name="TextBox 187">
            <a:extLst>
              <a:ext uri="{FF2B5EF4-FFF2-40B4-BE49-F238E27FC236}">
                <a16:creationId xmlns:a16="http://schemas.microsoft.com/office/drawing/2014/main" id="{C0631315-D408-86E4-49BA-8BA40CD5E606}"/>
              </a:ext>
            </a:extLst>
          </p:cNvPr>
          <p:cNvSpPr txBox="1"/>
          <p:nvPr/>
        </p:nvSpPr>
        <p:spPr>
          <a:xfrm rot="19798013">
            <a:off x="5606160" y="8260937"/>
            <a:ext cx="1340560" cy="338554"/>
          </a:xfrm>
          <a:prstGeom prst="rect">
            <a:avLst/>
          </a:prstGeom>
          <a:noFill/>
        </p:spPr>
        <p:txBody>
          <a:bodyPr wrap="none" rtlCol="0">
            <a:spAutoFit/>
          </a:bodyPr>
          <a:lstStyle/>
          <a:p>
            <a:r>
              <a:rPr lang="en-GB" sz="1600" dirty="0">
                <a:latin typeface="Segoe UI Light" panose="020B0502040204020203" pitchFamily="34" charset="0"/>
                <a:cs typeface="Segoe UI Light" panose="020B0502040204020203" pitchFamily="34" charset="0"/>
              </a:rPr>
              <a:t>Valve Module</a:t>
            </a:r>
          </a:p>
        </p:txBody>
      </p:sp>
      <p:sp>
        <p:nvSpPr>
          <p:cNvPr id="197" name="TextBox 196">
            <a:extLst>
              <a:ext uri="{FF2B5EF4-FFF2-40B4-BE49-F238E27FC236}">
                <a16:creationId xmlns:a16="http://schemas.microsoft.com/office/drawing/2014/main" id="{11F20223-3364-43A9-5F2C-19E5AF4C127E}"/>
              </a:ext>
            </a:extLst>
          </p:cNvPr>
          <p:cNvSpPr txBox="1"/>
          <p:nvPr/>
        </p:nvSpPr>
        <p:spPr>
          <a:xfrm>
            <a:off x="10098967" y="5572956"/>
            <a:ext cx="1353256" cy="261610"/>
          </a:xfrm>
          <a:prstGeom prst="rect">
            <a:avLst/>
          </a:prstGeom>
          <a:noFill/>
        </p:spPr>
        <p:txBody>
          <a:bodyPr wrap="none" rtlCol="0" anchor="b">
            <a:spAutoFit/>
          </a:bodyPr>
          <a:lstStyle/>
          <a:p>
            <a:pPr algn="r"/>
            <a:r>
              <a:rPr lang="en-GB" sz="1100" dirty="0">
                <a:latin typeface="Segoe UI" panose="020B0502040204020203" pitchFamily="34" charset="0"/>
                <a:cs typeface="Segoe UI" panose="020B0502040204020203" pitchFamily="34" charset="0"/>
              </a:rPr>
              <a:t>Command Module</a:t>
            </a:r>
          </a:p>
        </p:txBody>
      </p:sp>
      <p:sp>
        <p:nvSpPr>
          <p:cNvPr id="198" name="TextBox 197">
            <a:extLst>
              <a:ext uri="{FF2B5EF4-FFF2-40B4-BE49-F238E27FC236}">
                <a16:creationId xmlns:a16="http://schemas.microsoft.com/office/drawing/2014/main" id="{6B4585D5-132E-3262-CCFB-B5AE35F540CE}"/>
              </a:ext>
            </a:extLst>
          </p:cNvPr>
          <p:cNvSpPr txBox="1"/>
          <p:nvPr/>
        </p:nvSpPr>
        <p:spPr>
          <a:xfrm>
            <a:off x="12854157" y="5573037"/>
            <a:ext cx="1109599" cy="261610"/>
          </a:xfrm>
          <a:prstGeom prst="rect">
            <a:avLst/>
          </a:prstGeom>
          <a:noFill/>
        </p:spPr>
        <p:txBody>
          <a:bodyPr wrap="none" rtlCol="0" anchor="b">
            <a:spAutoFit/>
          </a:bodyPr>
          <a:lstStyle/>
          <a:p>
            <a:pPr algn="r"/>
            <a:r>
              <a:rPr lang="en-GB" sz="1100" dirty="0">
                <a:latin typeface="Segoe UI" panose="020B0502040204020203" pitchFamily="34" charset="0"/>
                <a:cs typeface="Segoe UI" panose="020B0502040204020203" pitchFamily="34" charset="0"/>
              </a:rPr>
              <a:t>Switch Module</a:t>
            </a:r>
          </a:p>
        </p:txBody>
      </p:sp>
      <p:sp>
        <p:nvSpPr>
          <p:cNvPr id="199" name="TextBox 198">
            <a:extLst>
              <a:ext uri="{FF2B5EF4-FFF2-40B4-BE49-F238E27FC236}">
                <a16:creationId xmlns:a16="http://schemas.microsoft.com/office/drawing/2014/main" id="{2A65E62E-951F-7BAB-6435-60968B70AEAA}"/>
              </a:ext>
            </a:extLst>
          </p:cNvPr>
          <p:cNvSpPr txBox="1"/>
          <p:nvPr/>
        </p:nvSpPr>
        <p:spPr>
          <a:xfrm>
            <a:off x="14304480" y="5568614"/>
            <a:ext cx="678391" cy="261610"/>
          </a:xfrm>
          <a:prstGeom prst="rect">
            <a:avLst/>
          </a:prstGeom>
          <a:noFill/>
        </p:spPr>
        <p:txBody>
          <a:bodyPr wrap="none" rtlCol="0" anchor="b">
            <a:spAutoFit/>
          </a:bodyPr>
          <a:lstStyle/>
          <a:p>
            <a:pPr algn="r"/>
            <a:r>
              <a:rPr lang="en-GB" sz="1100" dirty="0">
                <a:latin typeface="Segoe UI" panose="020B0502040204020203" pitchFamily="34" charset="0"/>
                <a:cs typeface="Segoe UI" panose="020B0502040204020203" pitchFamily="34" charset="0"/>
              </a:rPr>
              <a:t>External</a:t>
            </a:r>
          </a:p>
        </p:txBody>
      </p:sp>
      <p:pic>
        <p:nvPicPr>
          <p:cNvPr id="10" name="Picture 9" descr="A computer circuit board with many different components&#10;&#10;AI-generated content may be incorrect.">
            <a:extLst>
              <a:ext uri="{FF2B5EF4-FFF2-40B4-BE49-F238E27FC236}">
                <a16:creationId xmlns:a16="http://schemas.microsoft.com/office/drawing/2014/main" id="{B310AF05-D681-979F-E0F0-D4F222FC54FF}"/>
              </a:ext>
            </a:extLst>
          </p:cNvPr>
          <p:cNvPicPr>
            <a:picLocks noChangeAspect="1"/>
          </p:cNvPicPr>
          <p:nvPr/>
        </p:nvPicPr>
        <p:blipFill>
          <a:blip r:embed="rId5"/>
          <a:srcRect l="400" t="1045" r="710" b="9353"/>
          <a:stretch>
            <a:fillRect/>
          </a:stretch>
        </p:blipFill>
        <p:spPr>
          <a:xfrm>
            <a:off x="5361293" y="962032"/>
            <a:ext cx="3936852" cy="2734204"/>
          </a:xfrm>
          <a:prstGeom prst="rect">
            <a:avLst/>
          </a:prstGeom>
        </p:spPr>
      </p:pic>
      <p:sp>
        <p:nvSpPr>
          <p:cNvPr id="13" name="TextBox 12">
            <a:extLst>
              <a:ext uri="{FF2B5EF4-FFF2-40B4-BE49-F238E27FC236}">
                <a16:creationId xmlns:a16="http://schemas.microsoft.com/office/drawing/2014/main" id="{4C6959F8-DD22-ADDB-DDE5-F3E91013D9D1}"/>
              </a:ext>
            </a:extLst>
          </p:cNvPr>
          <p:cNvSpPr txBox="1"/>
          <p:nvPr/>
        </p:nvSpPr>
        <p:spPr>
          <a:xfrm rot="19798013">
            <a:off x="5884489" y="2286259"/>
            <a:ext cx="2308644" cy="707886"/>
          </a:xfrm>
          <a:prstGeom prst="rect">
            <a:avLst/>
          </a:prstGeom>
          <a:noFill/>
        </p:spPr>
        <p:txBody>
          <a:bodyPr wrap="none" rtlCol="0">
            <a:spAutoFit/>
          </a:bodyPr>
          <a:lstStyle/>
          <a:p>
            <a:pPr algn="ctr"/>
            <a:r>
              <a:rPr lang="en-GB" sz="2000" dirty="0">
                <a:latin typeface="Segoe UI" panose="020B0502040204020203" pitchFamily="34" charset="0"/>
                <a:cs typeface="Segoe UI" panose="020B0502040204020203" pitchFamily="34" charset="0"/>
              </a:rPr>
              <a:t>Command Module</a:t>
            </a:r>
          </a:p>
          <a:p>
            <a:pPr algn="ctr"/>
            <a:r>
              <a:rPr lang="en-GB" sz="2000" dirty="0">
                <a:latin typeface="Segoe UI" panose="020B0502040204020203" pitchFamily="34" charset="0"/>
                <a:cs typeface="Segoe UI" panose="020B0502040204020203" pitchFamily="34" charset="0"/>
              </a:rPr>
              <a:t>Circuit</a:t>
            </a:r>
          </a:p>
        </p:txBody>
      </p:sp>
      <p:sp>
        <p:nvSpPr>
          <p:cNvPr id="15" name="TextBox 14">
            <a:extLst>
              <a:ext uri="{FF2B5EF4-FFF2-40B4-BE49-F238E27FC236}">
                <a16:creationId xmlns:a16="http://schemas.microsoft.com/office/drawing/2014/main" id="{8A86121A-0EBA-32F4-3C7A-CE93B209F52E}"/>
              </a:ext>
            </a:extLst>
          </p:cNvPr>
          <p:cNvSpPr txBox="1"/>
          <p:nvPr/>
        </p:nvSpPr>
        <p:spPr>
          <a:xfrm rot="19798013">
            <a:off x="5925697" y="5314549"/>
            <a:ext cx="1859420" cy="707886"/>
          </a:xfrm>
          <a:prstGeom prst="rect">
            <a:avLst/>
          </a:prstGeom>
          <a:noFill/>
        </p:spPr>
        <p:txBody>
          <a:bodyPr wrap="none" rtlCol="0">
            <a:spAutoFit/>
          </a:bodyPr>
          <a:lstStyle/>
          <a:p>
            <a:pPr algn="ctr"/>
            <a:r>
              <a:rPr lang="en-GB" sz="2000" dirty="0">
                <a:latin typeface="Segoe UI" panose="020B0502040204020203" pitchFamily="34" charset="0"/>
                <a:cs typeface="Segoe UI" panose="020B0502040204020203" pitchFamily="34" charset="0"/>
              </a:rPr>
              <a:t>Switch Module</a:t>
            </a:r>
          </a:p>
          <a:p>
            <a:pPr algn="ctr"/>
            <a:r>
              <a:rPr lang="en-GB" sz="2000" dirty="0">
                <a:latin typeface="Segoe UI" panose="020B0502040204020203" pitchFamily="34" charset="0"/>
                <a:cs typeface="Segoe UI" panose="020B0502040204020203" pitchFamily="34" charset="0"/>
              </a:rPr>
              <a:t>Circuit</a:t>
            </a:r>
          </a:p>
        </p:txBody>
      </p:sp>
    </p:spTree>
    <p:extLst>
      <p:ext uri="{BB962C8B-B14F-4D97-AF65-F5344CB8AC3E}">
        <p14:creationId xmlns:p14="http://schemas.microsoft.com/office/powerpoint/2010/main" val="258260920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1098</TotalTime>
  <Words>1010</Words>
  <Application>Microsoft Office PowerPoint</Application>
  <PresentationFormat>Custom</PresentationFormat>
  <Paragraphs>57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Segoe UI</vt:lpstr>
      <vt:lpstr>Segoe UI Light</vt:lpstr>
      <vt:lpstr>Office Theme</vt:lpstr>
      <vt:lpstr>Regulated Irrigation System (RIS)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Dixon</dc:creator>
  <cp:lastModifiedBy>Samuel Dixon</cp:lastModifiedBy>
  <cp:revision>309</cp:revision>
  <cp:lastPrinted>2025-12-10T21:47:23Z</cp:lastPrinted>
  <dcterms:created xsi:type="dcterms:W3CDTF">2025-11-23T10:04:14Z</dcterms:created>
  <dcterms:modified xsi:type="dcterms:W3CDTF">2026-03-12T19:44:33Z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7559e1-065f-48bd-9ddf-4bc014495b9d_Enabled">
    <vt:lpwstr>true</vt:lpwstr>
  </property>
  <property fmtid="{D5CDD505-2E9C-101B-9397-08002B2CF9AE}" pid="3" name="MSIP_Label_ce7559e1-065f-48bd-9ddf-4bc014495b9d_SetDate">
    <vt:lpwstr>2025-11-23T10:22:23Z</vt:lpwstr>
  </property>
  <property fmtid="{D5CDD505-2E9C-101B-9397-08002B2CF9AE}" pid="4" name="MSIP_Label_ce7559e1-065f-48bd-9ddf-4bc014495b9d_Method">
    <vt:lpwstr>Standard</vt:lpwstr>
  </property>
  <property fmtid="{D5CDD505-2E9C-101B-9397-08002B2CF9AE}" pid="5" name="MSIP_Label_ce7559e1-065f-48bd-9ddf-4bc014495b9d_Name">
    <vt:lpwstr>defa4170-0d19-0005-0004-bc88714345d2</vt:lpwstr>
  </property>
  <property fmtid="{D5CDD505-2E9C-101B-9397-08002B2CF9AE}" pid="6" name="MSIP_Label_ce7559e1-065f-48bd-9ddf-4bc014495b9d_SiteId">
    <vt:lpwstr>854b4310-0dbf-4241-ae41-4df0a4f8db92</vt:lpwstr>
  </property>
  <property fmtid="{D5CDD505-2E9C-101B-9397-08002B2CF9AE}" pid="7" name="MSIP_Label_ce7559e1-065f-48bd-9ddf-4bc014495b9d_ActionId">
    <vt:lpwstr>fb825982-6a52-463c-84e2-c32f73db81d3</vt:lpwstr>
  </property>
  <property fmtid="{D5CDD505-2E9C-101B-9397-08002B2CF9AE}" pid="8" name="MSIP_Label_ce7559e1-065f-48bd-9ddf-4bc014495b9d_ContentBits">
    <vt:lpwstr>0</vt:lpwstr>
  </property>
  <property fmtid="{D5CDD505-2E9C-101B-9397-08002B2CF9AE}" pid="9" name="MSIP_Label_ce7559e1-065f-48bd-9ddf-4bc014495b9d_Tag">
    <vt:lpwstr>10, 3, 0, 1</vt:lpwstr>
  </property>
</Properties>
</file>